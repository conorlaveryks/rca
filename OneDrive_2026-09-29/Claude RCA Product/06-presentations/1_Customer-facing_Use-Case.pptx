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4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</p:sldIdLst>
  <p:sldSz cy="6858000" cx="121917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slide" Target="slides/slide5.xml"/><Relationship Id="rId3" Type="http://schemas.openxmlformats.org/officeDocument/2006/relationships/presProps" Target="presProps.xml"/><Relationship Id="rId21" Type="http://schemas.openxmlformats.org/officeDocument/2006/relationships/slide" Target="slides/slide8.xml"/><Relationship Id="rId17" Type="http://schemas.openxmlformats.org/officeDocument/2006/relationships/slide" Target="slides/slide4.xml"/><Relationship Id="rId25" Type="http://schemas.openxmlformats.org/officeDocument/2006/relationships/customXml" Target="../customXml/item3.xml"/><Relationship Id="rId16" Type="http://schemas.openxmlformats.org/officeDocument/2006/relationships/slide" Target="slides/slide3.xml"/><Relationship Id="rId20" Type="http://schemas.openxmlformats.org/officeDocument/2006/relationships/slide" Target="slides/slide7.xml"/><Relationship Id="rId1" Type="http://schemas.openxmlformats.org/officeDocument/2006/relationships/theme" Target="theme/theme2.xml"/><Relationship Id="rId24" Type="http://schemas.openxmlformats.org/officeDocument/2006/relationships/customXml" Target="../customXml/item2.xml"/><Relationship Id="rId15" Type="http://schemas.openxmlformats.org/officeDocument/2006/relationships/slide" Target="slides/slide2.xml"/><Relationship Id="rId23" Type="http://schemas.openxmlformats.org/officeDocument/2006/relationships/customXml" Target="../customXml/item1.xml"/><Relationship Id="rId19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14" Type="http://schemas.openxmlformats.org/officeDocument/2006/relationships/slide" Target="slides/slide1.xml"/><Relationship Id="rId22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Dia - 1" type="title">
  <p:cSld name="TITLE">
    <p:bg>
      <p:bgPr>
        <a:noFill/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325" y="5672700"/>
            <a:ext cx="2467549" cy="37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>
            <p:ph type="title"/>
          </p:nvPr>
        </p:nvSpPr>
        <p:spPr>
          <a:xfrm>
            <a:off x="797325" y="813650"/>
            <a:ext cx="5148300" cy="1167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Lexend Deca Medium"/>
              <a:buNone/>
              <a:defRPr sz="4000">
                <a:solidFill>
                  <a:srgbClr val="FFFFFF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2" type="title"/>
          </p:nvPr>
        </p:nvSpPr>
        <p:spPr>
          <a:xfrm>
            <a:off x="835425" y="576900"/>
            <a:ext cx="5148300" cy="304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exend Deca"/>
              <a:buNone/>
              <a:defRPr sz="11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3" type="title"/>
          </p:nvPr>
        </p:nvSpPr>
        <p:spPr>
          <a:xfrm>
            <a:off x="8857675" y="5534025"/>
            <a:ext cx="2467500" cy="5145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lab"/>
              <a:buNone/>
              <a:defRPr sz="14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4" type="title"/>
          </p:nvPr>
        </p:nvSpPr>
        <p:spPr>
          <a:xfrm>
            <a:off x="790575" y="2266950"/>
            <a:ext cx="3386100" cy="1167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exend Deca Medium"/>
              <a:buNone/>
              <a:defRPr sz="1600">
                <a:solidFill>
                  <a:srgbClr val="FFFFFF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19" name="Google Shape;19;p2"/>
          <p:cNvSpPr/>
          <p:nvPr>
            <p:ph idx="5" type="pic"/>
          </p:nvPr>
        </p:nvSpPr>
        <p:spPr>
          <a:xfrm>
            <a:off x="6115050" y="800100"/>
            <a:ext cx="5257800" cy="52578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Intro + 2 columns - Green 1">
  <p:cSld name="TITLE_AND_BODY_1_1_2_1">
    <p:bg>
      <p:bgPr>
        <a:noFill/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275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>
            <a:off x="-6275" y="0"/>
            <a:ext cx="12191700" cy="6858000"/>
          </a:xfrm>
          <a:prstGeom prst="rect">
            <a:avLst/>
          </a:prstGeom>
          <a:solidFill>
            <a:srgbClr val="00D0A5">
              <a:alpha val="23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0" y="-71300"/>
            <a:ext cx="12191700" cy="6929400"/>
          </a:xfrm>
          <a:prstGeom prst="rect">
            <a:avLst/>
          </a:prstGeom>
          <a:solidFill>
            <a:srgbClr val="00D0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" name="Google Shape;25;p3"/>
          <p:cNvCxnSpPr/>
          <p:nvPr/>
        </p:nvCxnSpPr>
        <p:spPr>
          <a:xfrm>
            <a:off x="795338" y="1451050"/>
            <a:ext cx="1956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" name="Google Shape;26;p3"/>
          <p:cNvCxnSpPr/>
          <p:nvPr/>
        </p:nvCxnSpPr>
        <p:spPr>
          <a:xfrm>
            <a:off x="3075825" y="1451050"/>
            <a:ext cx="33534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" name="Google Shape;27;p3"/>
          <p:cNvSpPr txBox="1"/>
          <p:nvPr/>
        </p:nvSpPr>
        <p:spPr>
          <a:xfrm>
            <a:off x="4100753" y="1502700"/>
            <a:ext cx="2814600" cy="28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28" name="Google Shape;28;p3"/>
          <p:cNvSpPr txBox="1"/>
          <p:nvPr/>
        </p:nvSpPr>
        <p:spPr>
          <a:xfrm>
            <a:off x="4239000" y="4770650"/>
            <a:ext cx="3645300" cy="9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Lexend Deca SemiBold"/>
              <a:ea typeface="Lexend Deca SemiBold"/>
              <a:cs typeface="Lexend Deca SemiBold"/>
              <a:sym typeface="Lexend Deca SemiBold"/>
            </a:endParaRPr>
          </a:p>
        </p:txBody>
      </p:sp>
      <p:sp>
        <p:nvSpPr>
          <p:cNvPr id="29" name="Google Shape;29;p3"/>
          <p:cNvSpPr txBox="1"/>
          <p:nvPr>
            <p:ph type="title"/>
          </p:nvPr>
        </p:nvSpPr>
        <p:spPr>
          <a:xfrm>
            <a:off x="699932" y="198578"/>
            <a:ext cx="7119600" cy="7638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50"/>
              <a:buFont typeface="Lexend Deca"/>
              <a:buNone/>
              <a:defRPr sz="375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2pPr>
            <a:lvl3pPr lvl="2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3pPr>
            <a:lvl4pPr lvl="3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4pPr>
            <a:lvl5pPr lvl="4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5pPr>
            <a:lvl6pPr lvl="5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6pPr>
            <a:lvl7pPr lvl="6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7pPr>
            <a:lvl8pPr lvl="7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8pPr>
            <a:lvl9pPr lvl="8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9pPr>
          </a:lstStyle>
          <a:p/>
        </p:txBody>
      </p:sp>
      <p:sp>
        <p:nvSpPr>
          <p:cNvPr id="30" name="Google Shape;30;p3"/>
          <p:cNvSpPr txBox="1"/>
          <p:nvPr>
            <p:ph idx="2" type="title"/>
          </p:nvPr>
        </p:nvSpPr>
        <p:spPr>
          <a:xfrm>
            <a:off x="795350" y="1657200"/>
            <a:ext cx="21993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Lexend Deca"/>
              <a:buNone/>
              <a:defRPr sz="15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1" name="Google Shape;31;p3"/>
          <p:cNvSpPr txBox="1"/>
          <p:nvPr>
            <p:ph idx="3" type="title"/>
          </p:nvPr>
        </p:nvSpPr>
        <p:spPr>
          <a:xfrm>
            <a:off x="3075900" y="1741475"/>
            <a:ext cx="3353400" cy="3996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Font typeface="Lexend Deca"/>
              <a:buNone/>
              <a:defRPr sz="11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Dia - 2">
  <p:cSld name="TITLE_1">
    <p:bg>
      <p:bgPr>
        <a:noFill/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50" y="1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325" y="5672700"/>
            <a:ext cx="2467549" cy="375925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36" name="Google Shape;36;p4"/>
          <p:cNvSpPr txBox="1"/>
          <p:nvPr>
            <p:ph type="title"/>
          </p:nvPr>
        </p:nvSpPr>
        <p:spPr>
          <a:xfrm>
            <a:off x="797325" y="813650"/>
            <a:ext cx="5148300" cy="1167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Lexend Deca Medium"/>
              <a:buNone/>
              <a:defRPr sz="4000">
                <a:solidFill>
                  <a:srgbClr val="FFFFFF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2" type="title"/>
          </p:nvPr>
        </p:nvSpPr>
        <p:spPr>
          <a:xfrm>
            <a:off x="835425" y="576900"/>
            <a:ext cx="5148300" cy="304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exend Deca"/>
              <a:buNone/>
              <a:defRPr sz="11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3" type="title"/>
          </p:nvPr>
        </p:nvSpPr>
        <p:spPr>
          <a:xfrm>
            <a:off x="8857675" y="5534025"/>
            <a:ext cx="2467500" cy="5145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lab"/>
              <a:buNone/>
              <a:defRPr sz="14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4" type="title"/>
          </p:nvPr>
        </p:nvSpPr>
        <p:spPr>
          <a:xfrm>
            <a:off x="790575" y="2266950"/>
            <a:ext cx="3386100" cy="1167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exend Deca Medium"/>
              <a:buNone/>
              <a:defRPr sz="1600">
                <a:solidFill>
                  <a:srgbClr val="FFFFFF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for section - Magenta" type="secHead">
  <p:cSld name="SECTION_HEADER">
    <p:bg>
      <p:bgPr>
        <a:noFill/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/>
          <p:nvPr/>
        </p:nvSpPr>
        <p:spPr>
          <a:xfrm>
            <a:off x="100" y="-25"/>
            <a:ext cx="12191700" cy="6858000"/>
          </a:xfrm>
          <a:prstGeom prst="rect">
            <a:avLst/>
          </a:prstGeom>
          <a:solidFill>
            <a:srgbClr val="FF006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" name="Google Shape;42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9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5"/>
          <p:cNvSpPr txBox="1"/>
          <p:nvPr>
            <p:ph type="ctrTitle"/>
          </p:nvPr>
        </p:nvSpPr>
        <p:spPr>
          <a:xfrm>
            <a:off x="797325" y="799125"/>
            <a:ext cx="5690400" cy="1780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Lexend Deca Medium"/>
              <a:buNone/>
              <a:defRPr sz="3800">
                <a:solidFill>
                  <a:srgbClr val="FFFFFF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for section + Image - Magenta">
  <p:cSld name="SECTION_HEADER_2">
    <p:bg>
      <p:bgPr>
        <a:noFill/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/>
          <p:nvPr/>
        </p:nvSpPr>
        <p:spPr>
          <a:xfrm>
            <a:off x="100" y="-25"/>
            <a:ext cx="12191700" cy="6858000"/>
          </a:xfrm>
          <a:prstGeom prst="rect">
            <a:avLst/>
          </a:prstGeom>
          <a:solidFill>
            <a:srgbClr val="FF006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" name="Google Shape;4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9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6"/>
          <p:cNvSpPr txBox="1"/>
          <p:nvPr>
            <p:ph type="ctrTitle"/>
          </p:nvPr>
        </p:nvSpPr>
        <p:spPr>
          <a:xfrm>
            <a:off x="797325" y="799125"/>
            <a:ext cx="5690400" cy="1780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Lexend Deca Medium"/>
              <a:buNone/>
              <a:defRPr sz="3800">
                <a:solidFill>
                  <a:srgbClr val="FFFFFF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49" name="Google Shape;49;p6"/>
          <p:cNvSpPr/>
          <p:nvPr>
            <p:ph idx="2" type="pic"/>
          </p:nvPr>
        </p:nvSpPr>
        <p:spPr>
          <a:xfrm>
            <a:off x="6115050" y="800100"/>
            <a:ext cx="5257800" cy="5257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for section - Purple">
  <p:cSld name="SECTION_HEADER_2_1">
    <p:bg>
      <p:bgPr>
        <a:noFill/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100" y="-25"/>
            <a:ext cx="12191700" cy="6858000"/>
          </a:xfrm>
          <a:prstGeom prst="rect">
            <a:avLst/>
          </a:prstGeom>
          <a:solidFill>
            <a:srgbClr val="4C00B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9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type="ctrTitle"/>
          </p:nvPr>
        </p:nvSpPr>
        <p:spPr>
          <a:xfrm>
            <a:off x="797325" y="799125"/>
            <a:ext cx="5690400" cy="1780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Lexend Deca Medium"/>
              <a:buNone/>
              <a:defRPr sz="3800">
                <a:solidFill>
                  <a:srgbClr val="FFFFFF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for section + Image - Purple">
  <p:cSld name="SECTION_HEADER_2_1_1">
    <p:bg>
      <p:bgPr>
        <a:noFill/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/>
          <p:nvPr/>
        </p:nvSpPr>
        <p:spPr>
          <a:xfrm>
            <a:off x="100" y="-25"/>
            <a:ext cx="12191700" cy="6858000"/>
          </a:xfrm>
          <a:prstGeom prst="rect">
            <a:avLst/>
          </a:prstGeom>
          <a:solidFill>
            <a:srgbClr val="4C00B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" name="Google Shape;5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9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8"/>
          <p:cNvSpPr txBox="1"/>
          <p:nvPr>
            <p:ph type="ctrTitle"/>
          </p:nvPr>
        </p:nvSpPr>
        <p:spPr>
          <a:xfrm>
            <a:off x="797325" y="799125"/>
            <a:ext cx="5690400" cy="1780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Lexend Deca Medium"/>
              <a:buNone/>
              <a:defRPr sz="3800">
                <a:solidFill>
                  <a:srgbClr val="FFFFFF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60" name="Google Shape;60;p8"/>
          <p:cNvSpPr/>
          <p:nvPr>
            <p:ph idx="2" type="pic"/>
          </p:nvPr>
        </p:nvSpPr>
        <p:spPr>
          <a:xfrm>
            <a:off x="6115050" y="800100"/>
            <a:ext cx="5257800" cy="5257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1" name="Google Shape;61;p8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for section - Green">
  <p:cSld name="SECTION_HEADER_1">
    <p:bg>
      <p:bgPr>
        <a:noFill/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/>
          <p:nvPr/>
        </p:nvSpPr>
        <p:spPr>
          <a:xfrm>
            <a:off x="100" y="-25"/>
            <a:ext cx="12191700" cy="6858000"/>
          </a:xfrm>
          <a:prstGeom prst="rect">
            <a:avLst/>
          </a:prstGeom>
          <a:solidFill>
            <a:srgbClr val="00D0A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9"/>
          <p:cNvSpPr txBox="1"/>
          <p:nvPr>
            <p:ph type="ctrTitle"/>
          </p:nvPr>
        </p:nvSpPr>
        <p:spPr>
          <a:xfrm>
            <a:off x="797325" y="799125"/>
            <a:ext cx="5690400" cy="1780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Lexend Deca Medium"/>
              <a:buNone/>
              <a:defRPr sz="3800">
                <a:solidFill>
                  <a:srgbClr val="FFFFFF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for section + Image - Green">
  <p:cSld name="SECTION_HEADER_1_1">
    <p:bg>
      <p:bgPr>
        <a:noFill/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/>
          <p:nvPr/>
        </p:nvSpPr>
        <p:spPr>
          <a:xfrm>
            <a:off x="100" y="-25"/>
            <a:ext cx="12191700" cy="6858000"/>
          </a:xfrm>
          <a:prstGeom prst="rect">
            <a:avLst/>
          </a:prstGeom>
          <a:solidFill>
            <a:srgbClr val="00D0A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0"/>
          <p:cNvSpPr txBox="1"/>
          <p:nvPr>
            <p:ph type="ctrTitle"/>
          </p:nvPr>
        </p:nvSpPr>
        <p:spPr>
          <a:xfrm>
            <a:off x="797325" y="799125"/>
            <a:ext cx="5690400" cy="1780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Lexend Deca Medium"/>
              <a:buNone/>
              <a:defRPr sz="3800">
                <a:solidFill>
                  <a:srgbClr val="FFFFFF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71" name="Google Shape;71;p10"/>
          <p:cNvSpPr/>
          <p:nvPr>
            <p:ph idx="2" type="pic"/>
          </p:nvPr>
        </p:nvSpPr>
        <p:spPr>
          <a:xfrm>
            <a:off x="6115050" y="800100"/>
            <a:ext cx="5257800" cy="5257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for section - Blue">
  <p:cSld name="SECTION_HEADER_1_1_1">
    <p:bg>
      <p:bgPr>
        <a:noFill/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/>
          <p:nvPr/>
        </p:nvSpPr>
        <p:spPr>
          <a:xfrm>
            <a:off x="100" y="-25"/>
            <a:ext cx="12191700" cy="6858000"/>
          </a:xfrm>
          <a:prstGeom prst="rect">
            <a:avLst/>
          </a:prstGeom>
          <a:solidFill>
            <a:srgbClr val="50B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ctrTitle"/>
          </p:nvPr>
        </p:nvSpPr>
        <p:spPr>
          <a:xfrm>
            <a:off x="797325" y="799125"/>
            <a:ext cx="5690400" cy="1780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Lexend Deca Medium"/>
              <a:buNone/>
              <a:defRPr sz="3800">
                <a:solidFill>
                  <a:srgbClr val="FFFFFF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for section + Image - Blue">
  <p:cSld name="SECTION_HEADER_1_1_1_1">
    <p:bg>
      <p:bgPr>
        <a:noFill/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/>
          <p:nvPr/>
        </p:nvSpPr>
        <p:spPr>
          <a:xfrm>
            <a:off x="100" y="-25"/>
            <a:ext cx="12191700" cy="6858000"/>
          </a:xfrm>
          <a:prstGeom prst="rect">
            <a:avLst/>
          </a:prstGeom>
          <a:solidFill>
            <a:srgbClr val="50B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2"/>
          <p:cNvSpPr txBox="1"/>
          <p:nvPr>
            <p:ph type="ctrTitle"/>
          </p:nvPr>
        </p:nvSpPr>
        <p:spPr>
          <a:xfrm>
            <a:off x="797325" y="799125"/>
            <a:ext cx="5690400" cy="1780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Lexend Deca Medium"/>
              <a:buNone/>
              <a:defRPr sz="3800">
                <a:solidFill>
                  <a:srgbClr val="FFFFFF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82" name="Google Shape;82;p12"/>
          <p:cNvSpPr/>
          <p:nvPr>
            <p:ph idx="2" type="pic"/>
          </p:nvPr>
        </p:nvSpPr>
        <p:spPr>
          <a:xfrm>
            <a:off x="6115050" y="800100"/>
            <a:ext cx="5257800" cy="5257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Intro + image - Green" type="tx">
  <p:cSld name="TITLE_AND_BODY">
    <p:bg>
      <p:bgPr>
        <a:noFill/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-6275" y="0"/>
            <a:ext cx="12191700" cy="6858000"/>
          </a:xfrm>
          <a:prstGeom prst="rect">
            <a:avLst/>
          </a:prstGeom>
          <a:solidFill>
            <a:srgbClr val="00D0A5">
              <a:alpha val="23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59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/>
          <p:nvPr>
            <p:ph idx="2" type="pic"/>
          </p:nvPr>
        </p:nvSpPr>
        <p:spPr>
          <a:xfrm>
            <a:off x="8334750" y="-614175"/>
            <a:ext cx="8086200" cy="8086500"/>
          </a:xfrm>
          <a:prstGeom prst="ellipse">
            <a:avLst/>
          </a:prstGeom>
          <a:noFill/>
          <a:ln>
            <a:noFill/>
          </a:ln>
        </p:spPr>
      </p:sp>
      <p:pic>
        <p:nvPicPr>
          <p:cNvPr id="88" name="Google Shape;8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275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>
            <p:ph type="title"/>
          </p:nvPr>
        </p:nvSpPr>
        <p:spPr>
          <a:xfrm>
            <a:off x="667344" y="493853"/>
            <a:ext cx="7119600" cy="7638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Lexend Deca"/>
              <a:buNone/>
              <a:defRPr sz="3600"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0" name="Google Shape;90;p13"/>
          <p:cNvSpPr txBox="1"/>
          <p:nvPr>
            <p:ph idx="3" type="title"/>
          </p:nvPr>
        </p:nvSpPr>
        <p:spPr>
          <a:xfrm>
            <a:off x="668775" y="1937600"/>
            <a:ext cx="3515100" cy="38151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lab"/>
              <a:buNone/>
              <a:defRPr sz="14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92" name="Google Shape;92;p13"/>
          <p:cNvSpPr txBox="1"/>
          <p:nvPr>
            <p:ph idx="4" type="title"/>
          </p:nvPr>
        </p:nvSpPr>
        <p:spPr>
          <a:xfrm>
            <a:off x="699932" y="350978"/>
            <a:ext cx="7119600" cy="7638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50"/>
              <a:buFont typeface="Lexend Deca"/>
              <a:buNone/>
              <a:defRPr sz="95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2pPr>
            <a:lvl3pPr lvl="2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3pPr>
            <a:lvl4pPr lvl="3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4pPr>
            <a:lvl5pPr lvl="4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5pPr>
            <a:lvl6pPr lvl="5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6pPr>
            <a:lvl7pPr lvl="6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7pPr>
            <a:lvl8pPr lvl="7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8pPr>
            <a:lvl9pPr lvl="8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9pPr>
          </a:lstStyle>
          <a:p/>
        </p:txBody>
      </p:sp>
      <p:sp>
        <p:nvSpPr>
          <p:cNvPr id="93" name="Google Shape;93;p13"/>
          <p:cNvSpPr txBox="1"/>
          <p:nvPr>
            <p:ph idx="5" type="title"/>
          </p:nvPr>
        </p:nvSpPr>
        <p:spPr>
          <a:xfrm>
            <a:off x="4258700" y="1980450"/>
            <a:ext cx="35151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Intro + image - Blue">
  <p:cSld name="TITLE_AND_BODY_1">
    <p:bg>
      <p:bgPr>
        <a:noFill/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-6275" y="0"/>
            <a:ext cx="12191700" cy="6858000"/>
          </a:xfrm>
          <a:prstGeom prst="rect">
            <a:avLst/>
          </a:prstGeom>
          <a:solidFill>
            <a:srgbClr val="50B6FF">
              <a:alpha val="235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/>
          <p:nvPr>
            <p:ph idx="2" type="pic"/>
          </p:nvPr>
        </p:nvSpPr>
        <p:spPr>
          <a:xfrm>
            <a:off x="8334750" y="-614175"/>
            <a:ext cx="8086200" cy="8086500"/>
          </a:xfrm>
          <a:prstGeom prst="ellipse">
            <a:avLst/>
          </a:prstGeom>
          <a:noFill/>
          <a:ln>
            <a:noFill/>
          </a:ln>
        </p:spPr>
      </p:sp>
      <p:pic>
        <p:nvPicPr>
          <p:cNvPr id="98" name="Google Shape;9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512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title"/>
          </p:nvPr>
        </p:nvSpPr>
        <p:spPr>
          <a:xfrm>
            <a:off x="667344" y="493853"/>
            <a:ext cx="7119600" cy="7638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Lexend Deca"/>
              <a:buNone/>
              <a:defRPr sz="36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0" name="Google Shape;100;p14"/>
          <p:cNvSpPr txBox="1"/>
          <p:nvPr>
            <p:ph idx="3" type="title"/>
          </p:nvPr>
        </p:nvSpPr>
        <p:spPr>
          <a:xfrm>
            <a:off x="668775" y="1937600"/>
            <a:ext cx="3515100" cy="38151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lab"/>
              <a:buNone/>
              <a:defRPr sz="14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1" name="Google Shape;101;p14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102" name="Google Shape;102;p14"/>
          <p:cNvSpPr txBox="1"/>
          <p:nvPr>
            <p:ph idx="4" type="title"/>
          </p:nvPr>
        </p:nvSpPr>
        <p:spPr>
          <a:xfrm>
            <a:off x="700688" y="351039"/>
            <a:ext cx="7119600" cy="304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50"/>
              <a:buFont typeface="Lexend Deca"/>
              <a:buNone/>
              <a:defRPr sz="95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3" name="Google Shape;103;p14"/>
          <p:cNvSpPr txBox="1"/>
          <p:nvPr>
            <p:ph idx="5" type="title"/>
          </p:nvPr>
        </p:nvSpPr>
        <p:spPr>
          <a:xfrm>
            <a:off x="4258700" y="1980450"/>
            <a:ext cx="35151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Intro + 3 columns - Green">
  <p:cSld name="TITLE_AND_BODY_1_1">
    <p:bg>
      <p:bgPr>
        <a:noFill/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/>
          <p:nvPr/>
        </p:nvSpPr>
        <p:spPr>
          <a:xfrm>
            <a:off x="-6275" y="0"/>
            <a:ext cx="12191700" cy="6858000"/>
          </a:xfrm>
          <a:prstGeom prst="rect">
            <a:avLst/>
          </a:prstGeom>
          <a:solidFill>
            <a:srgbClr val="00D0A5">
              <a:alpha val="23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275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>
            <p:ph type="title"/>
          </p:nvPr>
        </p:nvSpPr>
        <p:spPr>
          <a:xfrm>
            <a:off x="667353" y="493850"/>
            <a:ext cx="10673700" cy="7638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Lexend Deca"/>
              <a:buNone/>
              <a:defRPr sz="36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8" name="Google Shape;108;p15"/>
          <p:cNvSpPr txBox="1"/>
          <p:nvPr>
            <p:ph idx="2" type="title"/>
          </p:nvPr>
        </p:nvSpPr>
        <p:spPr>
          <a:xfrm>
            <a:off x="668775" y="1937600"/>
            <a:ext cx="3515100" cy="38151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lab"/>
              <a:buNone/>
              <a:defRPr sz="14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9" name="Google Shape;109;p15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110" name="Google Shape;110;p15"/>
          <p:cNvSpPr txBox="1"/>
          <p:nvPr>
            <p:ph idx="3" type="title"/>
          </p:nvPr>
        </p:nvSpPr>
        <p:spPr>
          <a:xfrm>
            <a:off x="700688" y="351039"/>
            <a:ext cx="7119600" cy="304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50"/>
              <a:buFont typeface="Lexend Deca"/>
              <a:buNone/>
              <a:defRPr sz="95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1" name="Google Shape;111;p15"/>
          <p:cNvSpPr txBox="1"/>
          <p:nvPr>
            <p:ph idx="4" type="title"/>
          </p:nvPr>
        </p:nvSpPr>
        <p:spPr>
          <a:xfrm>
            <a:off x="4258700" y="1980450"/>
            <a:ext cx="21993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2" name="Google Shape;112;p15"/>
          <p:cNvSpPr txBox="1"/>
          <p:nvPr>
            <p:ph idx="5" type="title"/>
          </p:nvPr>
        </p:nvSpPr>
        <p:spPr>
          <a:xfrm>
            <a:off x="6468500" y="1980450"/>
            <a:ext cx="21993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3" name="Google Shape;113;p15"/>
          <p:cNvSpPr txBox="1"/>
          <p:nvPr>
            <p:ph idx="6" type="title"/>
          </p:nvPr>
        </p:nvSpPr>
        <p:spPr>
          <a:xfrm>
            <a:off x="8678300" y="1980450"/>
            <a:ext cx="21993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Intro + 2 columns - Green">
  <p:cSld name="TITLE_AND_BODY_1_1_2">
    <p:bg>
      <p:bgPr>
        <a:noFill/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275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/>
          <p:nvPr/>
        </p:nvSpPr>
        <p:spPr>
          <a:xfrm>
            <a:off x="-6275" y="0"/>
            <a:ext cx="12191700" cy="6858000"/>
          </a:xfrm>
          <a:prstGeom prst="rect">
            <a:avLst/>
          </a:prstGeom>
          <a:solidFill>
            <a:srgbClr val="00D0A5">
              <a:alpha val="23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6"/>
          <p:cNvSpPr txBox="1"/>
          <p:nvPr>
            <p:ph type="title"/>
          </p:nvPr>
        </p:nvSpPr>
        <p:spPr>
          <a:xfrm>
            <a:off x="667353" y="493850"/>
            <a:ext cx="10673700" cy="7638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Lexend Deca"/>
              <a:buNone/>
              <a:defRPr sz="36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8" name="Google Shape;118;p16"/>
          <p:cNvSpPr txBox="1"/>
          <p:nvPr>
            <p:ph idx="2" type="title"/>
          </p:nvPr>
        </p:nvSpPr>
        <p:spPr>
          <a:xfrm>
            <a:off x="668775" y="1937600"/>
            <a:ext cx="3515100" cy="38151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lab"/>
              <a:buNone/>
              <a:defRPr sz="14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9" name="Google Shape;119;p16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120" name="Google Shape;120;p16"/>
          <p:cNvSpPr txBox="1"/>
          <p:nvPr>
            <p:ph idx="3" type="title"/>
          </p:nvPr>
        </p:nvSpPr>
        <p:spPr>
          <a:xfrm>
            <a:off x="700688" y="351039"/>
            <a:ext cx="7119600" cy="304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50"/>
              <a:buFont typeface="Lexend Deca"/>
              <a:buNone/>
              <a:defRPr sz="95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21" name="Google Shape;121;p16"/>
          <p:cNvSpPr txBox="1"/>
          <p:nvPr>
            <p:ph idx="4" type="title"/>
          </p:nvPr>
        </p:nvSpPr>
        <p:spPr>
          <a:xfrm>
            <a:off x="4487300" y="1980450"/>
            <a:ext cx="32997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22" name="Google Shape;122;p16"/>
          <p:cNvSpPr txBox="1"/>
          <p:nvPr>
            <p:ph idx="5" type="title"/>
          </p:nvPr>
        </p:nvSpPr>
        <p:spPr>
          <a:xfrm>
            <a:off x="8068700" y="1980450"/>
            <a:ext cx="32997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Intro + 3 columns - Blue">
  <p:cSld name="TITLE_AND_BODY_1_1_1">
    <p:bg>
      <p:bgPr>
        <a:noFill/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/>
          <p:nvPr/>
        </p:nvSpPr>
        <p:spPr>
          <a:xfrm>
            <a:off x="-6275" y="0"/>
            <a:ext cx="12191700" cy="6858000"/>
          </a:xfrm>
          <a:prstGeom prst="rect">
            <a:avLst/>
          </a:prstGeom>
          <a:solidFill>
            <a:srgbClr val="50B6FF">
              <a:alpha val="235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 txBox="1"/>
          <p:nvPr>
            <p:ph type="title"/>
          </p:nvPr>
        </p:nvSpPr>
        <p:spPr>
          <a:xfrm>
            <a:off x="667353" y="493850"/>
            <a:ext cx="10673700" cy="7638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Lexend Deca"/>
              <a:buNone/>
              <a:defRPr sz="36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27" name="Google Shape;127;p17"/>
          <p:cNvSpPr txBox="1"/>
          <p:nvPr>
            <p:ph idx="2" type="title"/>
          </p:nvPr>
        </p:nvSpPr>
        <p:spPr>
          <a:xfrm>
            <a:off x="668775" y="1937600"/>
            <a:ext cx="3515100" cy="38151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lab"/>
              <a:buNone/>
              <a:defRPr sz="14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28" name="Google Shape;128;p17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129" name="Google Shape;129;p17"/>
          <p:cNvSpPr txBox="1"/>
          <p:nvPr>
            <p:ph idx="3" type="title"/>
          </p:nvPr>
        </p:nvSpPr>
        <p:spPr>
          <a:xfrm>
            <a:off x="700688" y="351039"/>
            <a:ext cx="7119600" cy="304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50"/>
              <a:buFont typeface="Lexend Deca"/>
              <a:buNone/>
              <a:defRPr sz="95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30" name="Google Shape;130;p17"/>
          <p:cNvSpPr txBox="1"/>
          <p:nvPr>
            <p:ph idx="4" type="title"/>
          </p:nvPr>
        </p:nvSpPr>
        <p:spPr>
          <a:xfrm>
            <a:off x="4258700" y="1980450"/>
            <a:ext cx="21993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31" name="Google Shape;131;p17"/>
          <p:cNvSpPr txBox="1"/>
          <p:nvPr>
            <p:ph idx="5" type="title"/>
          </p:nvPr>
        </p:nvSpPr>
        <p:spPr>
          <a:xfrm>
            <a:off x="6468500" y="1980450"/>
            <a:ext cx="21993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32" name="Google Shape;132;p17"/>
          <p:cNvSpPr txBox="1"/>
          <p:nvPr>
            <p:ph idx="6" type="title"/>
          </p:nvPr>
        </p:nvSpPr>
        <p:spPr>
          <a:xfrm>
            <a:off x="8678300" y="1980450"/>
            <a:ext cx="21993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Intro + 2 columns - Blue">
  <p:cSld name="TITLE_AND_BODY_1_1_1_2">
    <p:bg>
      <p:bgPr>
        <a:noFill/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/>
          <p:nvPr/>
        </p:nvSpPr>
        <p:spPr>
          <a:xfrm>
            <a:off x="-6275" y="0"/>
            <a:ext cx="12191700" cy="6858000"/>
          </a:xfrm>
          <a:prstGeom prst="rect">
            <a:avLst/>
          </a:prstGeom>
          <a:solidFill>
            <a:srgbClr val="50B6FF">
              <a:alpha val="235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8"/>
          <p:cNvSpPr txBox="1"/>
          <p:nvPr>
            <p:ph type="title"/>
          </p:nvPr>
        </p:nvSpPr>
        <p:spPr>
          <a:xfrm>
            <a:off x="667353" y="493850"/>
            <a:ext cx="10673700" cy="7638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Lexend Deca"/>
              <a:buNone/>
              <a:defRPr sz="36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37" name="Google Shape;137;p18"/>
          <p:cNvSpPr txBox="1"/>
          <p:nvPr>
            <p:ph idx="2" type="title"/>
          </p:nvPr>
        </p:nvSpPr>
        <p:spPr>
          <a:xfrm>
            <a:off x="668775" y="1937600"/>
            <a:ext cx="3515100" cy="38151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lab"/>
              <a:buNone/>
              <a:defRPr sz="14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38" name="Google Shape;138;p18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139" name="Google Shape;139;p18"/>
          <p:cNvSpPr txBox="1"/>
          <p:nvPr>
            <p:ph idx="3" type="title"/>
          </p:nvPr>
        </p:nvSpPr>
        <p:spPr>
          <a:xfrm>
            <a:off x="700688" y="351039"/>
            <a:ext cx="7119600" cy="304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50"/>
              <a:buFont typeface="Lexend Deca"/>
              <a:buNone/>
              <a:defRPr sz="95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40" name="Google Shape;140;p18"/>
          <p:cNvSpPr txBox="1"/>
          <p:nvPr>
            <p:ph idx="4" type="title"/>
          </p:nvPr>
        </p:nvSpPr>
        <p:spPr>
          <a:xfrm>
            <a:off x="4487300" y="1980450"/>
            <a:ext cx="32997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41" name="Google Shape;141;p18"/>
          <p:cNvSpPr txBox="1"/>
          <p:nvPr>
            <p:ph idx="5" type="title"/>
          </p:nvPr>
        </p:nvSpPr>
        <p:spPr>
          <a:xfrm>
            <a:off x="8068700" y="1980450"/>
            <a:ext cx="32997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Intro + 3 columns - White">
  <p:cSld name="TITLE_AND_BODY_1_1_1_1">
    <p:bg>
      <p:bgPr>
        <a:noFill/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6"/>
            <a:ext cx="12191702" cy="6857849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9"/>
          <p:cNvSpPr txBox="1"/>
          <p:nvPr>
            <p:ph type="title"/>
          </p:nvPr>
        </p:nvSpPr>
        <p:spPr>
          <a:xfrm>
            <a:off x="667353" y="493850"/>
            <a:ext cx="10673700" cy="7638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Lexend Deca"/>
              <a:buNone/>
              <a:defRPr sz="36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45" name="Google Shape;145;p19"/>
          <p:cNvSpPr txBox="1"/>
          <p:nvPr>
            <p:ph idx="2" type="title"/>
          </p:nvPr>
        </p:nvSpPr>
        <p:spPr>
          <a:xfrm>
            <a:off x="668775" y="1937600"/>
            <a:ext cx="3515100" cy="38151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lab"/>
              <a:buNone/>
              <a:defRPr sz="14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46" name="Google Shape;146;p19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idx="3" type="title"/>
          </p:nvPr>
        </p:nvSpPr>
        <p:spPr>
          <a:xfrm>
            <a:off x="700688" y="351039"/>
            <a:ext cx="7119600" cy="304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50"/>
              <a:buFont typeface="Lexend Deca"/>
              <a:buNone/>
              <a:defRPr sz="95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48" name="Google Shape;148;p19"/>
          <p:cNvSpPr txBox="1"/>
          <p:nvPr>
            <p:ph idx="4" type="title"/>
          </p:nvPr>
        </p:nvSpPr>
        <p:spPr>
          <a:xfrm>
            <a:off x="4258700" y="1980450"/>
            <a:ext cx="21993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49" name="Google Shape;149;p19"/>
          <p:cNvSpPr txBox="1"/>
          <p:nvPr>
            <p:ph idx="5" type="title"/>
          </p:nvPr>
        </p:nvSpPr>
        <p:spPr>
          <a:xfrm>
            <a:off x="6468500" y="1980450"/>
            <a:ext cx="21993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50" name="Google Shape;150;p19"/>
          <p:cNvSpPr txBox="1"/>
          <p:nvPr>
            <p:ph idx="6" type="title"/>
          </p:nvPr>
        </p:nvSpPr>
        <p:spPr>
          <a:xfrm>
            <a:off x="8678300" y="1980450"/>
            <a:ext cx="21993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Intro + 2 columns - White">
  <p:cSld name="TITLE_AND_BODY_1_1_1_1_1">
    <p:bg>
      <p:bgPr>
        <a:noFill/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6"/>
            <a:ext cx="12191702" cy="6857849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0"/>
          <p:cNvSpPr txBox="1"/>
          <p:nvPr>
            <p:ph type="title"/>
          </p:nvPr>
        </p:nvSpPr>
        <p:spPr>
          <a:xfrm>
            <a:off x="667353" y="493850"/>
            <a:ext cx="10673700" cy="7638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Lexend Deca"/>
              <a:buNone/>
              <a:defRPr sz="36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54" name="Google Shape;154;p20"/>
          <p:cNvSpPr txBox="1"/>
          <p:nvPr>
            <p:ph idx="2" type="title"/>
          </p:nvPr>
        </p:nvSpPr>
        <p:spPr>
          <a:xfrm>
            <a:off x="668775" y="1937600"/>
            <a:ext cx="3515100" cy="38151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lab"/>
              <a:buNone/>
              <a:defRPr sz="14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55" name="Google Shape;155;p20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156" name="Google Shape;156;p20"/>
          <p:cNvSpPr txBox="1"/>
          <p:nvPr>
            <p:ph idx="3" type="title"/>
          </p:nvPr>
        </p:nvSpPr>
        <p:spPr>
          <a:xfrm>
            <a:off x="700688" y="351039"/>
            <a:ext cx="7119600" cy="304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50"/>
              <a:buFont typeface="Lexend Deca"/>
              <a:buNone/>
              <a:defRPr sz="95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57" name="Google Shape;157;p20"/>
          <p:cNvSpPr txBox="1"/>
          <p:nvPr>
            <p:ph idx="4" type="title"/>
          </p:nvPr>
        </p:nvSpPr>
        <p:spPr>
          <a:xfrm>
            <a:off x="4487300" y="1980450"/>
            <a:ext cx="32997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58" name="Google Shape;158;p20"/>
          <p:cNvSpPr txBox="1"/>
          <p:nvPr>
            <p:ph idx="5" type="title"/>
          </p:nvPr>
        </p:nvSpPr>
        <p:spPr>
          <a:xfrm>
            <a:off x="8068700" y="1980450"/>
            <a:ext cx="32997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white slide" type="blank">
  <p:cSld name="BLANK">
    <p:bg>
      <p:bgPr>
        <a:noFill/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161" name="Google Shape;161;p21"/>
          <p:cNvSpPr txBox="1"/>
          <p:nvPr>
            <p:ph type="title"/>
          </p:nvPr>
        </p:nvSpPr>
        <p:spPr>
          <a:xfrm>
            <a:off x="667353" y="493850"/>
            <a:ext cx="10673700" cy="7638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Lexend Deca"/>
              <a:buNone/>
              <a:defRPr sz="36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62" name="Google Shape;162;p21"/>
          <p:cNvSpPr txBox="1"/>
          <p:nvPr>
            <p:ph idx="2" type="title"/>
          </p:nvPr>
        </p:nvSpPr>
        <p:spPr>
          <a:xfrm>
            <a:off x="700688" y="351039"/>
            <a:ext cx="7119600" cy="304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50"/>
              <a:buFont typeface="Lexend Deca"/>
              <a:buNone/>
              <a:defRPr sz="95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18.xml"/><Relationship Id="rId21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0.xml"/><Relationship Id="rId2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11218838" y="0"/>
            <a:ext cx="10953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667325" y="599350"/>
            <a:ext cx="106740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exend Deca SemiBold"/>
              <a:buNone/>
              <a:defRPr sz="3600">
                <a:solidFill>
                  <a:srgbClr val="000000"/>
                </a:solidFill>
                <a:latin typeface="Lexend Deca SemiBold"/>
                <a:ea typeface="Lexend Deca SemiBold"/>
                <a:cs typeface="Lexend Deca SemiBold"/>
                <a:sym typeface="Lexend Deca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rgbClr val="00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rgbClr val="00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807625" y="1536625"/>
            <a:ext cx="10533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50" lIns="121950" spcFirstLastPara="1" rIns="121950" wrap="square" tIns="12195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exend Deca"/>
              <a:buChar char="●"/>
              <a:defRPr sz="24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Deca"/>
              <a:buChar char="○"/>
              <a:defRPr sz="19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Deca"/>
              <a:buChar char="■"/>
              <a:defRPr sz="19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Deca"/>
              <a:buChar char="●"/>
              <a:defRPr sz="19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Deca"/>
              <a:buChar char="○"/>
              <a:defRPr sz="19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Deca"/>
              <a:buChar char="■"/>
              <a:defRPr sz="19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Deca"/>
              <a:buChar char="●"/>
              <a:defRPr sz="19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Deca"/>
              <a:buChar char="○"/>
              <a:defRPr sz="19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Deca"/>
              <a:buChar char="■"/>
              <a:defRPr sz="1900">
                <a:solidFill>
                  <a:srgbClr val="158158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algn="ctr">
              <a:buNone/>
              <a:defRPr sz="1400">
                <a:solidFill>
                  <a:srgbClr val="158158"/>
                </a:solidFill>
              </a:defRPr>
            </a:lvl1pPr>
            <a:lvl2pPr lvl="1" algn="ctr">
              <a:buNone/>
              <a:defRPr sz="1400">
                <a:solidFill>
                  <a:srgbClr val="158158"/>
                </a:solidFill>
              </a:defRPr>
            </a:lvl2pPr>
            <a:lvl3pPr lvl="2" algn="ctr">
              <a:buNone/>
              <a:defRPr sz="1400">
                <a:solidFill>
                  <a:srgbClr val="158158"/>
                </a:solidFill>
              </a:defRPr>
            </a:lvl3pPr>
            <a:lvl4pPr lvl="3" algn="ctr">
              <a:buNone/>
              <a:defRPr sz="1400">
                <a:solidFill>
                  <a:srgbClr val="158158"/>
                </a:solidFill>
              </a:defRPr>
            </a:lvl4pPr>
            <a:lvl5pPr lvl="4" algn="ctr">
              <a:buNone/>
              <a:defRPr sz="1400">
                <a:solidFill>
                  <a:srgbClr val="158158"/>
                </a:solidFill>
              </a:defRPr>
            </a:lvl5pPr>
            <a:lvl6pPr lvl="5" algn="ctr">
              <a:buNone/>
              <a:defRPr sz="1400">
                <a:solidFill>
                  <a:srgbClr val="158158"/>
                </a:solidFill>
              </a:defRPr>
            </a:lvl6pPr>
            <a:lvl7pPr lvl="6" algn="ctr">
              <a:buNone/>
              <a:defRPr sz="1400">
                <a:solidFill>
                  <a:srgbClr val="158158"/>
                </a:solidFill>
              </a:defRPr>
            </a:lvl7pPr>
            <a:lvl8pPr lvl="7" algn="ctr">
              <a:buNone/>
              <a:defRPr sz="1400">
                <a:solidFill>
                  <a:srgbClr val="158158"/>
                </a:solidFill>
              </a:defRPr>
            </a:lvl8pPr>
            <a:lvl9pPr lvl="8" algn="ctr">
              <a:buNone/>
              <a:defRPr sz="1400">
                <a:solidFill>
                  <a:srgbClr val="158158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pic>
        <p:nvPicPr>
          <p:cNvPr id="10" name="Google Shape;10;p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666975" y="6481068"/>
            <a:ext cx="199100" cy="497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  <p:sldLayoutId id="2147483663" r:id="rId18"/>
    <p:sldLayoutId id="2147483664" r:id="rId19"/>
    <p:sldLayoutId id="2147483665" r:id="rId20"/>
    <p:sldLayoutId id="2147483666" r:id="rId21"/>
    <p:sldLayoutId id="2147483667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Complex products in Salesforce — in a fraction of the time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A Nextview + AI case study  ·  Configure-Price-Quote for manufacturers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 idx="4"/>
          </p:nvPr>
        </p:nvSpPr>
        <p:spPr/>
        <p:txBody>
          <a:bodyPr/>
          <a:lstStyle/>
          <a:p/>
        </p:txBody>
      </p:sp>
      <p:sp>
        <p:nvSpPr>
          <p:cNvPr id="6" name="Picture Placeholder 5"/>
          <p:cNvSpPr>
            <a:spLocks noGrp="1"/>
          </p:cNvSpPr>
          <p:nvPr>
            <p:ph type="pic" idx="5"/>
          </p:nvPr>
        </p:nvSpPr>
        <p:spPr/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0065"/>
                </a:solidFill>
                <a:latin typeface="Lexend Deca"/>
              </a:rP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832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Lexend Deca"/>
              </a:rPr>
              <a:t>Highly configurable products are hard to bring into Salesforce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3977639" cy="132588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453896"/>
            <a:ext cx="36484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0065"/>
                </a:solidFill>
                <a:latin typeface="Lexend Deca"/>
              </a:rPr>
              <a:t>Trapped in spreadsheets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801368"/>
            <a:ext cx="36484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Lexend Deca"/>
              </a:rPr>
              <a:t>Product logic lives in complex Excel configurators with hundreds of interdependent formulas that only a few people understand.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325880"/>
            <a:ext cx="3977639" cy="132588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28032" y="1453896"/>
            <a:ext cx="36484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0065"/>
                </a:solidFill>
                <a:latin typeface="Lexend Deca"/>
              </a:rPr>
              <a:t>Slow, specialist-heavy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8032" y="1801368"/>
            <a:ext cx="36484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Lexend Deca"/>
              </a:rPr>
              <a:t>Recreating a product in Salesforce RCA needs rare skills — deep CPQ/RCA knowledge AND product domain expertise — and takes days per product.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788920"/>
            <a:ext cx="3977639" cy="132588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2916936"/>
            <a:ext cx="36484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0065"/>
                </a:solidFill>
                <a:latin typeface="Lexend Deca"/>
              </a:rPr>
              <a:t>Error-prone by hand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264408"/>
            <a:ext cx="36484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Lexend Deca"/>
              </a:rPr>
              <a:t>Hundreds of attribute values, sizes and validation rules entered manually means mistakes, rework, and quoting errors down the line.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2788920"/>
            <a:ext cx="3977639" cy="132588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28032" y="2916936"/>
            <a:ext cx="36484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0065"/>
                </a:solidFill>
                <a:latin typeface="Lexend Deca"/>
              </a:rPr>
              <a:t>Hard to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3264408"/>
            <a:ext cx="36484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Lexend Deca"/>
              </a:rPr>
              <a:t>With dozens or hundreds of product variants, manual onboarding simply doesn't scale — the backlog grows faster than the team can clear 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279392"/>
            <a:ext cx="8321040" cy="438912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343400"/>
            <a:ext cx="8138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Lexend Deca"/>
              </a:rPr>
              <a:t>The result: a Salesforce CPQ rollout that stalls on the hardest, most valuable products.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0065"/>
                </a:solidFill>
                <a:latin typeface="Lexend Deca"/>
              </a:rPr>
              <a:t>The reference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832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Lexend Deca"/>
              </a:rPr>
              <a:t>A global building-envelope manufacturer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3931920" cy="2788920"/>
          </a:xfrm>
          <a:prstGeom prst="rect">
            <a:avLst/>
          </a:prstGeom>
          <a:solidFill>
            <a:srgbClr val="C5ED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2646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C00B1"/>
                </a:solidFill>
                <a:latin typeface="Lexend Deca"/>
              </a:rPr>
              <a:t>THE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Lexend Deca"/>
              </a:rPr>
              <a:t>A configurable smoke &amp; heat exhaust ventilator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2441448"/>
            <a:ext cx="100584" cy="100584"/>
          </a:xfrm>
          <a:prstGeom prst="ellipse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957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Lexend Deca"/>
              </a:rPr>
              <a:t>Certified life-safety product (EN 12101-2)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2788920"/>
            <a:ext cx="100584" cy="100584"/>
          </a:xfrm>
          <a:prstGeom prst="ellipse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743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Lexend Deca"/>
              </a:rPr>
              <a:t>20 configurable attributes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3136392"/>
            <a:ext cx="100584" cy="100584"/>
          </a:xfrm>
          <a:prstGeom prst="ellipse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0906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Lexend Deca"/>
              </a:rPr>
              <a:t>308 size combinations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" y="3483864"/>
            <a:ext cx="100584" cy="100584"/>
          </a:xfrm>
          <a:prstGeom prst="ellipse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43814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Lexend Deca"/>
              </a:rPr>
              <a:t>51 control types · 35 thermal-release options</a:t>
            </a:r>
          </a:p>
        </p:txBody>
      </p:sp>
      <p:sp>
        <p:nvSpPr>
          <p:cNvPr id="17" name="Oval 16"/>
          <p:cNvSpPr/>
          <p:nvPr/>
        </p:nvSpPr>
        <p:spPr>
          <a:xfrm>
            <a:off x="713232" y="3831336"/>
            <a:ext cx="100584" cy="100584"/>
          </a:xfrm>
          <a:prstGeom prst="ellipse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78561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Lexend Deca"/>
              </a:rPr>
              <a:t>Priced &amp; configured in a legacy Excel tool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1298448"/>
            <a:ext cx="3977639" cy="278892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142646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C00B1"/>
                </a:solidFill>
                <a:latin typeface="Lexend Deca"/>
              </a:rPr>
              <a:t>THE 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173736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Lexend Deca"/>
              </a:rPr>
              <a:t>Make it a fully configurable Salesforce RCA product</a:t>
            </a:r>
          </a:p>
        </p:txBody>
      </p:sp>
      <p:sp>
        <p:nvSpPr>
          <p:cNvPr id="22" name="Oval 21"/>
          <p:cNvSpPr/>
          <p:nvPr/>
        </p:nvSpPr>
        <p:spPr>
          <a:xfrm>
            <a:off x="4873752" y="2441448"/>
            <a:ext cx="100584" cy="10058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56632" y="23957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Lexend Deca"/>
              </a:rPr>
              <a:t>Every attribute &amp; valid option combination</a:t>
            </a:r>
          </a:p>
        </p:txBody>
      </p:sp>
      <p:sp>
        <p:nvSpPr>
          <p:cNvPr id="24" name="Oval 23"/>
          <p:cNvSpPr/>
          <p:nvPr/>
        </p:nvSpPr>
        <p:spPr>
          <a:xfrm>
            <a:off x="4873752" y="2788920"/>
            <a:ext cx="100584" cy="10058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56632" y="2743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Lexend Deca"/>
              </a:rPr>
              <a:t>All calculated outputs (areas, loads, CO₂, U-value)</a:t>
            </a:r>
          </a:p>
        </p:txBody>
      </p:sp>
      <p:sp>
        <p:nvSpPr>
          <p:cNvPr id="26" name="Oval 25"/>
          <p:cNvSpPr/>
          <p:nvPr/>
        </p:nvSpPr>
        <p:spPr>
          <a:xfrm>
            <a:off x="4873752" y="3136392"/>
            <a:ext cx="100584" cy="10058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56632" y="30906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Lexend Deca"/>
              </a:rPr>
              <a:t>Import-ready data files</a:t>
            </a:r>
          </a:p>
        </p:txBody>
      </p:sp>
      <p:sp>
        <p:nvSpPr>
          <p:cNvPr id="28" name="Oval 27"/>
          <p:cNvSpPr/>
          <p:nvPr/>
        </p:nvSpPr>
        <p:spPr>
          <a:xfrm>
            <a:off x="4873752" y="3483864"/>
            <a:ext cx="100584" cy="10058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56632" y="343814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Lexend Deca"/>
              </a:rPr>
              <a:t>A live constraint model that validates each quote</a:t>
            </a:r>
          </a:p>
        </p:txBody>
      </p:sp>
      <p:sp>
        <p:nvSpPr>
          <p:cNvPr id="30" name="Oval 29"/>
          <p:cNvSpPr/>
          <p:nvPr/>
        </p:nvSpPr>
        <p:spPr>
          <a:xfrm>
            <a:off x="4873752" y="3831336"/>
            <a:ext cx="100584" cy="10058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56632" y="378561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Lexend Deca"/>
              </a:rPr>
              <a:t>A process that repeats for the next product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279392"/>
            <a:ext cx="8321040" cy="438912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343400"/>
            <a:ext cx="8138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Lexend Deca"/>
              </a:rPr>
              <a:t>Exactly the kind of complex, real-world product that usually takes a specialist several days to onboard.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0065"/>
                </a:solidFill>
                <a:latin typeface="Lexend Deca"/>
              </a:rPr>
              <a:t>The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832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Lexend Deca"/>
              </a:rPr>
              <a:t>AI-accelerated product onboarding, guided by Nextview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2011680" cy="1600200"/>
          </a:xfrm>
          <a:prstGeom prst="rect">
            <a:avLst/>
          </a:prstGeom>
          <a:solidFill>
            <a:srgbClr val="C5ED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2704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C00B1"/>
                </a:solidFill>
                <a:latin typeface="Lexend Dec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Lexend Deca"/>
              </a:rPr>
              <a:t>ANALYSE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377440"/>
            <a:ext cx="17922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Lexend Deca"/>
              </a:rPr>
              <a:t>Read the Excel configurator — every formula, rule and lookup 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96312" y="2011680"/>
            <a:ext cx="146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0065"/>
                </a:solidFill>
                <a:latin typeface="Lexend Deca"/>
              </a:rP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24328" y="1417320"/>
            <a:ext cx="2011680" cy="160020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24328" y="152704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C00B1"/>
                </a:solidFill>
                <a:latin typeface="Lexend Dec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4328" y="205740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Lexend Deca"/>
              </a:rPr>
              <a:t>GENERATE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34056" y="2377440"/>
            <a:ext cx="17922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Lexend Deca"/>
              </a:rPr>
              <a:t>Produce attributes, picklists, import files and the constraint model.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011680"/>
            <a:ext cx="146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0065"/>
                </a:solidFill>
                <a:latin typeface="Lexend Deca"/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45736" y="1417320"/>
            <a:ext cx="2011680" cy="1600200"/>
          </a:xfrm>
          <a:prstGeom prst="rect">
            <a:avLst/>
          </a:prstGeom>
          <a:solidFill>
            <a:srgbClr val="C5ED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45736" y="152704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C00B1"/>
                </a:solidFill>
                <a:latin typeface="Lexend Dec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5736" y="205740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Lexend Deca"/>
              </a:rPr>
              <a:t>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5464" y="2377440"/>
            <a:ext cx="17922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Lexend Deca"/>
              </a:rPr>
              <a:t>Load to sandbox, run tests, fix issues, and confirm every output.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2011680"/>
            <a:ext cx="146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0065"/>
                </a:solidFill>
                <a:latin typeface="Lexend Deca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67144" y="1417320"/>
            <a:ext cx="2011680" cy="160020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67144" y="152704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C00B1"/>
                </a:solidFill>
                <a:latin typeface="Lexend Dec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67144" y="205740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Lexend Deca"/>
              </a:rPr>
              <a:t>REPEAT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6872" y="2377440"/>
            <a:ext cx="17922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Lexend Deca"/>
              </a:rPr>
              <a:t>Package it as a reusable skill so the next product is even faster.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310128"/>
            <a:ext cx="8321040" cy="566928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401568"/>
            <a:ext cx="7955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C00B1"/>
                </a:solidFill>
                <a:latin typeface="Lexend Deca"/>
              </a:rPr>
              <a:t>AI does the volume — reading formulas, generating thousands of data points.   Nextview owns the judgement — architecture, validation, and sign-off.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279392"/>
            <a:ext cx="8321040" cy="438912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343400"/>
            <a:ext cx="8138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Lexend Deca"/>
              </a:rPr>
              <a:t>The same approach works for any manufacturer with complex, rule-driven configurable products.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0065"/>
                </a:solidFill>
                <a:latin typeface="Lexend Deca"/>
              </a:rPr>
              <a:t>The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832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Lexend Deca"/>
              </a:rPr>
              <a:t>From several days to a single working session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651760" cy="1371600"/>
          </a:xfrm>
          <a:prstGeom prst="rect">
            <a:avLst/>
          </a:prstGeom>
          <a:solidFill>
            <a:srgbClr val="C5ED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C00B1"/>
                </a:solidFill>
                <a:latin typeface="Lexend Deca"/>
              </a:rPr>
              <a:t>~90%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7510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0065"/>
                </a:solidFill>
                <a:latin typeface="Lexend Deca"/>
              </a:rPr>
              <a:t>faster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9424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Lexend Deca"/>
              </a:rPr>
              <a:t>One session vs. an estimated 2–3 days of specialist effort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371600"/>
            <a:ext cx="2651760" cy="137160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48132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C00B1"/>
                </a:solidFill>
                <a:latin typeface="Lexend Deca"/>
              </a:rPr>
              <a:t>~99%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97510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0065"/>
                </a:solidFill>
                <a:latin typeface="Lexend Deca"/>
              </a:rPr>
              <a:t>lower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249424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Lexend Deca"/>
              </a:rPr>
              <a:t>A fraction of the consultant time to onboard the product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371600"/>
            <a:ext cx="2651760" cy="13716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48132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C00B1"/>
                </a:solidFill>
                <a:latin typeface="Lexend Deca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197510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0065"/>
                </a:solidFill>
                <a:latin typeface="Lexend Deca"/>
              </a:rPr>
              <a:t>manual errors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249424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Lexend Deca"/>
              </a:rPr>
              <a:t>213 values &amp; 308 sizes generated and cross-checked automatically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880360"/>
            <a:ext cx="2651760" cy="1371600"/>
          </a:xfrm>
          <a:prstGeom prst="rect">
            <a:avLst/>
          </a:prstGeom>
          <a:solidFill>
            <a:srgbClr val="C5ED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99008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C00B1"/>
                </a:solidFill>
                <a:latin typeface="Lexend Deca"/>
              </a:rPr>
              <a:t>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48386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0065"/>
                </a:solidFill>
                <a:latin typeface="Lexend Deca"/>
              </a:rPr>
              <a:t>rules enforced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758184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Lexend Deca"/>
              </a:rPr>
              <a:t>Every business rule captured and validated live in the model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2880360"/>
            <a:ext cx="2651760" cy="137160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299008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C00B1"/>
                </a:solidFill>
                <a:latin typeface="Lexend Deca"/>
              </a:rPr>
              <a:t>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348386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0065"/>
                </a:solidFill>
                <a:latin typeface="Lexend Deca"/>
              </a:rPr>
              <a:t>outputs automated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3758184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Lexend Deca"/>
              </a:rPr>
              <a:t>Areas, loads, CO₂, U-value and more — calculated on every quote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2880360"/>
            <a:ext cx="2651760" cy="13716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299008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C00B1"/>
                </a:solidFill>
                <a:latin typeface="Lexend Deca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348386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0065"/>
                </a:solidFill>
                <a:latin typeface="Lexend Deca"/>
              </a:rPr>
              <a:t>reusable asset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758184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Lexend Deca"/>
              </a:rPr>
              <a:t>A skill that makes every future product onboarding faster still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279392"/>
            <a:ext cx="8321040" cy="438912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343400"/>
            <a:ext cx="8138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Lexend Deca"/>
              </a:rPr>
              <a:t>Same quality. Full validation. A tiny fraction of the time and cost.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0065"/>
                </a:solidFill>
                <a:latin typeface="Lexend Deca"/>
              </a:rPr>
              <a:t>What was delivered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832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Lexend Deca"/>
              </a:rPr>
              <a:t>Concrete, production-ready artifacts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457200" cy="566928"/>
          </a:xfrm>
          <a:prstGeom prst="rect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36192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Lexend Deca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35608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Lexend Deca"/>
              </a:rPr>
              <a:t>Configurable product in Salesforce RCA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728216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Lexend Deca"/>
              </a:rPr>
              <a:t>Attributes, picklists and classification fully set up and import-ready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30552"/>
            <a:ext cx="457200" cy="566928"/>
          </a:xfrm>
          <a:prstGeom prst="rect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249424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Lexend Deca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Lexend Deca"/>
              </a:rPr>
              <a:t>Constraint model that validates 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441448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Lexend Deca"/>
              </a:rPr>
              <a:t>Invalid option combinations blocked automatically as the user configures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843784"/>
            <a:ext cx="457200" cy="566928"/>
          </a:xfrm>
          <a:prstGeom prst="rect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96265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Lexend Deca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862072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Lexend Deca"/>
              </a:rPr>
              <a:t>All calculated outputs automated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154680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Lexend Deca"/>
              </a:rPr>
              <a:t>Area, snow/wind loads, CO₂ bottle, U-value, pressures — no manual lookup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557016"/>
            <a:ext cx="457200" cy="566928"/>
          </a:xfrm>
          <a:prstGeom prst="rect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675888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Lexend Deca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575304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Lexend Deca"/>
              </a:rPr>
              <a:t>Reusable onboarding skill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867912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Lexend Deca"/>
              </a:rPr>
              <a:t>A documented, repeatable process for every future product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279392"/>
            <a:ext cx="8321040" cy="438912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343400"/>
            <a:ext cx="8138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Lexend Deca"/>
              </a:rPr>
              <a:t>Not a prototype — a validated, ready-to-activate Salesforce product setup.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0065"/>
                </a:solidFill>
                <a:latin typeface="Lexend Deca"/>
              </a:rPr>
              <a:t>Is this you?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832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Lexend Deca"/>
              </a:rPr>
              <a:t>This applies if your business looks like this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517904"/>
            <a:ext cx="128016" cy="128016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Lexend Deca"/>
              </a:rPr>
              <a:t>You sell configurable products with many options and variants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295144"/>
            <a:ext cx="128016" cy="128016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Lexend Deca"/>
              </a:rPr>
              <a:t>Product logic lives in Excel, a legacy configurator, or people's heads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072384"/>
            <a:ext cx="128016" cy="128016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0175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Lexend Deca"/>
              </a:rPr>
              <a:t>You're moving to (or already on) Salesforce Revenue Cloud / CPQ</a:t>
            </a:r>
          </a:p>
        </p:txBody>
      </p:sp>
      <p:sp>
        <p:nvSpPr>
          <p:cNvPr id="12" name="Oval 11"/>
          <p:cNvSpPr/>
          <p:nvPr/>
        </p:nvSpPr>
        <p:spPr>
          <a:xfrm>
            <a:off x="4709160" y="1517904"/>
            <a:ext cx="128016" cy="128016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146304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Lexend Deca"/>
              </a:rPr>
              <a:t>Onboarding each product to Salesforce is slow and needs scarce specialists</a:t>
            </a:r>
          </a:p>
        </p:txBody>
      </p:sp>
      <p:sp>
        <p:nvSpPr>
          <p:cNvPr id="14" name="Oval 13"/>
          <p:cNvSpPr/>
          <p:nvPr/>
        </p:nvSpPr>
        <p:spPr>
          <a:xfrm>
            <a:off x="4709160" y="2295144"/>
            <a:ext cx="128016" cy="128016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224028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Lexend Deca"/>
              </a:rPr>
              <a:t>You have a backlog of products waiting to be configured</a:t>
            </a:r>
          </a:p>
        </p:txBody>
      </p:sp>
      <p:sp>
        <p:nvSpPr>
          <p:cNvPr id="16" name="Oval 15"/>
          <p:cNvSpPr/>
          <p:nvPr/>
        </p:nvSpPr>
        <p:spPr>
          <a:xfrm>
            <a:off x="4709160" y="3072384"/>
            <a:ext cx="128016" cy="128016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301752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Lexend Deca"/>
              </a:rPr>
              <a:t>Quoting errors or inconsistent pricing are a real risk today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279392"/>
            <a:ext cx="8321040" cy="438912"/>
          </a:xfrm>
          <a:prstGeom prst="rect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343400"/>
            <a:ext cx="8138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Lexend Deca"/>
              </a:rPr>
              <a:t>If two or more of these ring true, this approach can accelerate your Salesforce CPQ rollout.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0065"/>
                </a:solidFill>
                <a:latin typeface="Lexend Deca"/>
              </a:rPr>
              <a:t>Why Nextview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832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Lexend Deca"/>
              </a:rPr>
              <a:t>Salesforce depth + AI fluency, combined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697480" cy="2331720"/>
          </a:xfrm>
          <a:prstGeom prst="rect">
            <a:avLst/>
          </a:prstGeom>
          <a:solidFill>
            <a:srgbClr val="C5ED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54480"/>
            <a:ext cx="23682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00B1"/>
                </a:solidFill>
                <a:latin typeface="Lexend Deca"/>
              </a:rPr>
              <a:t>Salesforce specialists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240280"/>
            <a:ext cx="236829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Lexend Deca"/>
              </a:rPr>
              <a:t>Deep, certified expertise in Revenue Cloud, CPQ, and constraint modelling — we know how to build it right the first time.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9272" y="1371600"/>
            <a:ext cx="2697480" cy="233172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83864" y="1554480"/>
            <a:ext cx="23682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00B1"/>
                </a:solidFill>
                <a:latin typeface="Lexend Deca"/>
              </a:rPr>
              <a:t>AI-native delivery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83864" y="2240280"/>
            <a:ext cx="236829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Lexend Deca"/>
              </a:rPr>
              <a:t>We use AI as a core delivery tool on real client work, not as an experiment — turning days of effort into hours.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35624" y="1371600"/>
            <a:ext cx="2697480" cy="233172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216" y="1554480"/>
            <a:ext cx="23682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00B1"/>
                </a:solidFill>
                <a:latin typeface="Lexend Deca"/>
              </a:rPr>
              <a:t>Repeatable &amp; owned by you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216" y="2240280"/>
            <a:ext cx="236829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Lexend Deca"/>
              </a:rPr>
              <a:t>We leave behind reusable skills and a documented process, so your team can scale onboarding without us in the loop.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279392"/>
            <a:ext cx="8321040" cy="438912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343400"/>
            <a:ext cx="8138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Lexend Deca"/>
              </a:rPr>
              <a:t>The rare combination that turns a stalled CPQ backlog into a fast, repeatable pipeline.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Let's onboard one of your products — live.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5CB672AF67F44D950DBE54A5A52241" ma:contentTypeVersion="17" ma:contentTypeDescription="Create a new document." ma:contentTypeScope="" ma:versionID="1757fad67ccba543cf071e268e2ef806">
  <xsd:schema xmlns:xsd="http://www.w3.org/2001/XMLSchema" xmlns:xs="http://www.w3.org/2001/XMLSchema" xmlns:p="http://schemas.microsoft.com/office/2006/metadata/properties" xmlns:ns2="05e8a59d-3a81-4b74-849a-9f125a18a5d5" xmlns:ns3="52217aa2-56c0-4537-a16b-21b948960df3" targetNamespace="http://schemas.microsoft.com/office/2006/metadata/properties" ma:root="true" ma:fieldsID="3406f66a34ebb4d667a2549e1a052923" ns2:_="" ns3:_="">
    <xsd:import namespace="05e8a59d-3a81-4b74-849a-9f125a18a5d5"/>
    <xsd:import namespace="52217aa2-56c0-4537-a16b-21b948960d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Statu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e8a59d-3a81-4b74-849a-9f125a18a5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8a7b3f3f-e5a1-4961-851f-eb29f9d0b86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Status" ma:index="23" nillable="true" ma:displayName="Status" ma:format="Dropdown" ma:internalName="Status">
      <xsd:simpleType>
        <xsd:restriction base="dms:Text">
          <xsd:maxLength value="255"/>
        </xsd:restriction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217aa2-56c0-4537-a16b-21b948960df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117214b-65a8-4a4a-8087-04c3d591675e}" ma:internalName="TaxCatchAll" ma:showField="CatchAllData" ma:web="52217aa2-56c0-4537-a16b-21b948960df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5e8a59d-3a81-4b74-849a-9f125a18a5d5">
      <Terms xmlns="http://schemas.microsoft.com/office/infopath/2007/PartnerControls"/>
    </lcf76f155ced4ddcb4097134ff3c332f>
    <Status xmlns="05e8a59d-3a81-4b74-849a-9f125a18a5d5" xsi:nil="true"/>
    <TaxCatchAll xmlns="52217aa2-56c0-4537-a16b-21b948960df3" xsi:nil="true"/>
  </documentManagement>
</p:properties>
</file>

<file path=customXml/itemProps1.xml><?xml version="1.0" encoding="utf-8"?>
<ds:datastoreItem xmlns:ds="http://schemas.openxmlformats.org/officeDocument/2006/customXml" ds:itemID="{C5EDC3AC-FDD4-4291-BBFF-21668A6E0630}"/>
</file>

<file path=customXml/itemProps2.xml><?xml version="1.0" encoding="utf-8"?>
<ds:datastoreItem xmlns:ds="http://schemas.openxmlformats.org/officeDocument/2006/customXml" ds:itemID="{28774CEA-18DE-4700-B1D9-6F1DB50E4625}"/>
</file>

<file path=customXml/itemProps3.xml><?xml version="1.0" encoding="utf-8"?>
<ds:datastoreItem xmlns:ds="http://schemas.openxmlformats.org/officeDocument/2006/customXml" ds:itemID="{E9BC8C35-EE1F-495B-994B-EBAA611029C6}"/>
</file>

<file path=docProps/app.xml><?xml version="1.0" encoding="utf-8"?>
<Properties xmlns="http://schemas.openxmlformats.org/officeDocument/2006/extended-properties" xmlns:vt="http://schemas.openxmlformats.org/officeDocument/2006/docPropsVTypes">
  <Application>python-pptx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Nextview Consulting</dc:creator>
  <cp:lastModifiedBy>Nextview Consulting</cp:lastModifiedBy>
  <cp:revision>1</cp:revision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0x0101000C5CB672AF67F44D950DBE54A5A52241</vt:lpwstr>
  </property>
</Properties>
</file>