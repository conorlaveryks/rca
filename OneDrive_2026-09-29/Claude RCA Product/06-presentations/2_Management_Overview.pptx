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sldIdLst>
    <p:sldId id="256" r:id="rId14"/>
    <p:sldId id="257" r:id="rId15"/>
    <p:sldId id="258" r:id="rId16"/>
    <p:sldId id="260" r:id="rId8"/>
    <p:sldId id="259" r:id="rId17"/>
  </p:sldIdLst>
  <p:sldSz cy="6858000" cx="121917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8" Type="http://schemas.openxmlformats.org/officeDocument/2006/relationships/customXml" Target="../customXml/item1.xml"/><Relationship Id="rId3" Type="http://schemas.openxmlformats.org/officeDocument/2006/relationships/presProps" Target="presProps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20" Type="http://schemas.openxmlformats.org/officeDocument/2006/relationships/customXml" Target="../customXml/item3.xml"/><Relationship Id="rId1" Type="http://schemas.openxmlformats.org/officeDocument/2006/relationships/theme" Target="theme/theme1.xml"/><Relationship Id="rId15" Type="http://schemas.openxmlformats.org/officeDocument/2006/relationships/slide" Target="slides/slide2.xml"/><Relationship Id="rId19" Type="http://schemas.openxmlformats.org/officeDocument/2006/relationships/customXml" Target="../customXml/item2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ia -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325" y="5672700"/>
            <a:ext cx="2467549" cy="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797325" y="813650"/>
            <a:ext cx="51483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exend Deca Medium"/>
              <a:buNone/>
              <a:defRPr sz="4000">
                <a:solidFill>
                  <a:schemeClr val="lt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title"/>
          </p:nvPr>
        </p:nvSpPr>
        <p:spPr>
          <a:xfrm>
            <a:off x="835425" y="576900"/>
            <a:ext cx="51483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3" type="title"/>
          </p:nvPr>
        </p:nvSpPr>
        <p:spPr>
          <a:xfrm>
            <a:off x="8857675" y="5534025"/>
            <a:ext cx="2467500" cy="5145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"/>
              <a:buNone/>
              <a:defRPr sz="14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4" type="title"/>
          </p:nvPr>
        </p:nvSpPr>
        <p:spPr>
          <a:xfrm>
            <a:off x="790575" y="2266950"/>
            <a:ext cx="33861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 Medium"/>
              <a:buNone/>
              <a:defRPr sz="1600">
                <a:solidFill>
                  <a:schemeClr val="lt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9" name="Google Shape;19;p2"/>
          <p:cNvSpPr/>
          <p:nvPr>
            <p:ph idx="5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Green 1">
  <p:cSld name="TITLE_AND_BODY_1_1_2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0" y="-71300"/>
            <a:ext cx="12191700" cy="6929400"/>
          </a:xfrm>
          <a:prstGeom prst="rect">
            <a:avLst/>
          </a:prstGeom>
          <a:solidFill>
            <a:srgbClr val="00D0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" name="Google Shape;25;p3"/>
          <p:cNvCxnSpPr/>
          <p:nvPr/>
        </p:nvCxnSpPr>
        <p:spPr>
          <a:xfrm>
            <a:off x="795338" y="1451050"/>
            <a:ext cx="195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3075825" y="1451050"/>
            <a:ext cx="335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/>
        </p:nvSpPr>
        <p:spPr>
          <a:xfrm>
            <a:off x="4100753" y="1502700"/>
            <a:ext cx="28146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4239000" y="4770650"/>
            <a:ext cx="36453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 Deca SemiBold"/>
              <a:ea typeface="Lexend Deca SemiBold"/>
              <a:cs typeface="Lexend Deca SemiBold"/>
              <a:sym typeface="Lexend Deca SemiBold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699932" y="198578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50"/>
              <a:buFont typeface="Lexend Deca"/>
              <a:buNone/>
              <a:defRPr sz="37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2pPr>
            <a:lvl3pPr lvl="2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3pPr>
            <a:lvl4pPr lvl="3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4pPr>
            <a:lvl5pPr lvl="4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5pPr>
            <a:lvl6pPr lvl="5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6pPr>
            <a:lvl7pPr lvl="6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7pPr>
            <a:lvl8pPr lvl="7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8pPr>
            <a:lvl9pPr lvl="8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9pPr>
          </a:lstStyle>
          <a:p/>
        </p:txBody>
      </p:sp>
      <p:sp>
        <p:nvSpPr>
          <p:cNvPr id="30" name="Google Shape;30;p3"/>
          <p:cNvSpPr txBox="1"/>
          <p:nvPr>
            <p:ph idx="2" type="title"/>
          </p:nvPr>
        </p:nvSpPr>
        <p:spPr>
          <a:xfrm>
            <a:off x="795350" y="165720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exend Deca"/>
              <a:buNone/>
              <a:defRPr sz="15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" name="Google Shape;31;p3"/>
          <p:cNvSpPr txBox="1"/>
          <p:nvPr>
            <p:ph idx="3" type="title"/>
          </p:nvPr>
        </p:nvSpPr>
        <p:spPr>
          <a:xfrm>
            <a:off x="3075900" y="1741475"/>
            <a:ext cx="3353400" cy="3996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exend Deca"/>
              <a:buNone/>
              <a:defRPr sz="11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ia - 2">
  <p:cSld name="TITLE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50" y="1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>
            <p:ph type="ctrTitle"/>
          </p:nvPr>
        </p:nvSpPr>
        <p:spPr>
          <a:xfrm>
            <a:off x="793675" y="803775"/>
            <a:ext cx="51948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pic>
        <p:nvPicPr>
          <p:cNvPr id="35" name="Google Shape;3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325" y="5672700"/>
            <a:ext cx="2467549" cy="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Magenta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FF006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Magenta">
  <p:cSld name="SECTION_HEADER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FF006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6" name="Google Shape;46;p6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Purple">
  <p:cSld name="SECTION_HEADER_2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4C00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Purple">
  <p:cSld name="SECTION_HEADER_2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4C00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7" name="Google Shape;57;p8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Green">
  <p:cSld name="SECTION_HEADER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00D0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Green">
  <p:cSld name="SECTION_HEADER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00D0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Blue">
  <p:cSld name="SECTION_HEADER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50B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Blue">
  <p:cSld name="SECTION_HEADER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50B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image - Green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/>
          <p:nvPr>
            <p:ph idx="2" type="pic"/>
          </p:nvPr>
        </p:nvSpPr>
        <p:spPr>
          <a:xfrm>
            <a:off x="8334750" y="-614175"/>
            <a:ext cx="8086200" cy="8086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3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4" type="title"/>
          </p:nvPr>
        </p:nvSpPr>
        <p:spPr>
          <a:xfrm>
            <a:off x="699932" y="350978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2pPr>
            <a:lvl3pPr lvl="2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3pPr>
            <a:lvl4pPr lvl="3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4pPr>
            <a:lvl5pPr lvl="4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5pPr>
            <a:lvl6pPr lvl="5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6pPr>
            <a:lvl7pPr lvl="6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7pPr>
            <a:lvl8pPr lvl="7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8pPr>
            <a:lvl9pPr lvl="8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9pPr>
          </a:lstStyle>
          <a:p/>
        </p:txBody>
      </p:sp>
      <p:sp>
        <p:nvSpPr>
          <p:cNvPr id="90" name="Google Shape;90;p13"/>
          <p:cNvSpPr txBox="1"/>
          <p:nvPr>
            <p:ph idx="5" type="title"/>
          </p:nvPr>
        </p:nvSpPr>
        <p:spPr>
          <a:xfrm>
            <a:off x="4258700" y="1980450"/>
            <a:ext cx="35151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image - Blue">
  <p:cSld name="TITLE_AND_BODY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>
            <p:ph idx="2" type="pic"/>
          </p:nvPr>
        </p:nvSpPr>
        <p:spPr>
          <a:xfrm>
            <a:off x="8334750" y="-614175"/>
            <a:ext cx="8086200" cy="8086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12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99" name="Google Shape;99;p14"/>
          <p:cNvSpPr txBox="1"/>
          <p:nvPr>
            <p:ph idx="4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5" type="title"/>
          </p:nvPr>
        </p:nvSpPr>
        <p:spPr>
          <a:xfrm>
            <a:off x="4258700" y="1980450"/>
            <a:ext cx="35151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Green">
  <p:cSld name="TITLE_AND_BODY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Green">
  <p:cSld name="TITLE_AND_BODY_1_1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5" name="Google Shape;115;p16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17" name="Google Shape;117;p16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Blue">
  <p:cSld name="TITLE_AND_BODY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4" name="Google Shape;124;p17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26" name="Google Shape;126;p17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Blue">
  <p:cSld name="TITLE_AND_BODY_1_1_1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36" name="Google Shape;136;p18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White">
  <p:cSld name="TITLE_AND_BODY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12191702" cy="685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44" name="Google Shape;144;p19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White">
  <p:cSld name="TITLE_AND_BODY_1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12191702" cy="685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1" name="Google Shape;151;p20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53" name="Google Shape;153;p20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white slide" type="blank">
  <p:cSld name="BLANK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2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1218838" y="0"/>
            <a:ext cx="10953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667325" y="599350"/>
            <a:ext cx="106740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SemiBold"/>
              <a:buNone/>
              <a:defRPr sz="36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07625" y="1536625"/>
            <a:ext cx="10533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50" lIns="121950" spcFirstLastPara="1" rIns="121950" wrap="square" tIns="12195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exend Deca"/>
              <a:buChar char="●"/>
              <a:defRPr sz="2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●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●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algn="ctr">
              <a:buNone/>
              <a:defRPr sz="1400">
                <a:solidFill>
                  <a:schemeClr val="dk2"/>
                </a:solidFill>
              </a:defRPr>
            </a:lvl1pPr>
            <a:lvl2pPr lvl="1" algn="ctr">
              <a:buNone/>
              <a:defRPr sz="1400">
                <a:solidFill>
                  <a:schemeClr val="dk2"/>
                </a:solidFill>
              </a:defRPr>
            </a:lvl2pPr>
            <a:lvl3pPr lvl="2" algn="ctr">
              <a:buNone/>
              <a:defRPr sz="1400">
                <a:solidFill>
                  <a:schemeClr val="dk2"/>
                </a:solidFill>
              </a:defRPr>
            </a:lvl3pPr>
            <a:lvl4pPr lvl="3" algn="ctr">
              <a:buNone/>
              <a:defRPr sz="1400">
                <a:solidFill>
                  <a:schemeClr val="dk2"/>
                </a:solidFill>
              </a:defRPr>
            </a:lvl4pPr>
            <a:lvl5pPr lvl="4" algn="ctr">
              <a:buNone/>
              <a:defRPr sz="1400">
                <a:solidFill>
                  <a:schemeClr val="dk2"/>
                </a:solidFill>
              </a:defRPr>
            </a:lvl5pPr>
            <a:lvl6pPr lvl="5" algn="ctr">
              <a:buNone/>
              <a:defRPr sz="1400">
                <a:solidFill>
                  <a:schemeClr val="dk2"/>
                </a:solidFill>
              </a:defRPr>
            </a:lvl6pPr>
            <a:lvl7pPr lvl="6" algn="ctr">
              <a:buNone/>
              <a:defRPr sz="1400">
                <a:solidFill>
                  <a:schemeClr val="dk2"/>
                </a:solidFill>
              </a:defRPr>
            </a:lvl7pPr>
            <a:lvl8pPr lvl="7" algn="ctr">
              <a:buNone/>
              <a:defRPr sz="1400">
                <a:solidFill>
                  <a:schemeClr val="dk2"/>
                </a:solidFill>
              </a:defRPr>
            </a:lvl8pPr>
            <a:lvl9pPr lvl="8" algn="ctr">
              <a:buNone/>
              <a:defRPr sz="1400"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66975" y="6481068"/>
            <a:ext cx="199100" cy="497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1 · Showcase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How Claude loaded the ECO Tech product into Salesforce 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389888" cy="987552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Lexend Deca"/>
              </a:rPr>
              <a:t>Excel
Configurator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389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Lexend Deca"/>
              </a:rPr>
              <a:t>11 formula sheets
reverse-engineered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9384" y="1801368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00B1"/>
                </a:solidFill>
                <a:latin typeface="Lexend Deca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3976" y="1353312"/>
            <a:ext cx="1389888" cy="987552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144475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Lexend Deca"/>
              </a:rPr>
              <a:t>Product
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3976" y="1828800"/>
            <a:ext cx="1389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Lexend Deca"/>
              </a:rPr>
              <a:t>20 attributes
213 picklist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01368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00B1"/>
                </a:solidFill>
                <a:latin typeface="Lexend Deca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1353312"/>
            <a:ext cx="1389888" cy="987552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144475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Lexend Deca"/>
              </a:rPr>
              <a:t>Import
CSVs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1828800"/>
            <a:ext cx="1389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Lexend Deca"/>
              </a:rPr>
              <a:t>11 files, numbered
in load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1801368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00B1"/>
                </a:solidFill>
                <a:latin typeface="Lexend Deca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6088" y="1353312"/>
            <a:ext cx="1389888" cy="987552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144475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Lexend Deca"/>
              </a:rPr>
              <a:t>CML
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1828800"/>
            <a:ext cx="1389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Lexend Deca"/>
              </a:rPr>
              <a:t>5,236 table entries
33 business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1801368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00B1"/>
                </a:solidFill>
                <a:latin typeface="Lexend Deca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67144" y="1353312"/>
            <a:ext cx="1389888" cy="987552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67144" y="144475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Lexend Deca"/>
              </a:rPr>
              <a:t>Live in
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1828800"/>
            <a:ext cx="13898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Lexend Deca"/>
              </a:rPr>
              <a:t>Fully configured &amp;
validated product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523744"/>
            <a:ext cx="2606040" cy="1207008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2615184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00B1"/>
                </a:solidFill>
                <a:latin typeface="Lexend Deca"/>
              </a:rPr>
              <a:t>Analysed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907792"/>
            <a:ext cx="2386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Read 11 Excel sheets, identified formulas for Av, Aa, snow load, wind load, CO₂, U-value, opening pressure and ambient temperature class.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9272" y="2523744"/>
            <a:ext cx="2606040" cy="1207008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00B1"/>
                </a:solidFill>
                <a:latin typeface="Lexend Deca"/>
              </a:rPr>
              <a:t>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907792"/>
            <a:ext cx="2386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Produced all 20 attribute definitions, 213 picklist values, ProductClassification links, and 5,236 pre-computed CML table entries.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35624" y="2523744"/>
            <a:ext cx="2606040" cy="1207008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2615184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00B1"/>
                </a:solidFill>
                <a:latin typeface="Lexend Deca"/>
              </a:rPr>
              <a:t>Validated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2907792"/>
            <a:ext cx="2386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Fixed 6 CML syntax errors across 4 versions. Resolved duplicate picklist codes, string-too-long names and tree-node search limit errors.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One session · One consultant · One Excel file  →  fully configured, validated, import-ready Salesforce RCA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2 · Time to load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Claude compresses a 2–3 day task into a single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3474720" cy="402336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Lexend Deca"/>
              </a:rPr>
              <a:t>WITHOUT Claude  (traditional)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261872"/>
            <a:ext cx="3474720" cy="4023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3350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Lexend Deca"/>
              </a:rPr>
              <a:t>WITH Claude  (this session)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2651760" cy="374904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737360"/>
            <a:ext cx="777240" cy="374904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196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Read &amp; interpret Excel formulas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1965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C4C"/>
                </a:solidFill>
                <a:latin typeface="Lexend Deca"/>
              </a:rPr>
              <a:t>4–6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737360"/>
            <a:ext cx="2651760" cy="374904"/>
          </a:xfrm>
          <a:prstGeom prst="rect">
            <a:avLst/>
          </a:prstGeom>
          <a:solidFill>
            <a:srgbClr val="C5EDE6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737360"/>
            <a:ext cx="777240" cy="374904"/>
          </a:xfrm>
          <a:prstGeom prst="rect">
            <a:avLst/>
          </a:prstGeom>
          <a:solidFill>
            <a:srgbClr val="C5EDE6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8196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Prompt Claude with Excel +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81965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050"/>
                </a:solidFill>
                <a:latin typeface="Lexend Deca"/>
              </a:rPr>
              <a:t>&lt; 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12264"/>
            <a:ext cx="26517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2112264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194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Build attribute definitions manually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945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C4C"/>
                </a:solidFill>
                <a:latin typeface="Lexend Deca"/>
              </a:rPr>
              <a:t>3–4 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112264"/>
            <a:ext cx="26517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2112264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194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Review generated attribute definitions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1945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050"/>
                </a:solidFill>
                <a:latin typeface="Lexend Deca"/>
              </a:rPr>
              <a:t>30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487168"/>
            <a:ext cx="2651760" cy="374904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2487168"/>
            <a:ext cx="777240" cy="374904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5694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Create picklist values (213 rows)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5694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C4C"/>
                </a:solidFill>
                <a:latin typeface="Lexend Deca"/>
              </a:rPr>
              <a:t>2–3 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487168"/>
            <a:ext cx="2651760" cy="374904"/>
          </a:xfrm>
          <a:prstGeom prst="rect">
            <a:avLst/>
          </a:prstGeom>
          <a:solidFill>
            <a:srgbClr val="C5EDE6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0920" y="2487168"/>
            <a:ext cx="777240" cy="374904"/>
          </a:xfrm>
          <a:prstGeom prst="rect">
            <a:avLst/>
          </a:prstGeom>
          <a:solidFill>
            <a:srgbClr val="C5EDE6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5694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Run import CSVs in sandbox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5694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050"/>
                </a:solidFill>
                <a:latin typeface="Lexend Deca"/>
              </a:rPr>
              <a:t>30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862072"/>
            <a:ext cx="26517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0" y="2862072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944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Write import CSVs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29443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C4C"/>
                </a:solidFill>
                <a:latin typeface="Lexend Deca"/>
              </a:rPr>
              <a:t>3–4 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862072"/>
            <a:ext cx="26517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60920" y="2862072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2944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Review &amp; activate CML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29443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050"/>
                </a:solidFill>
                <a:latin typeface="Lexend Deca"/>
              </a:rPr>
              <a:t>45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236976"/>
            <a:ext cx="2651760" cy="374904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3236976"/>
            <a:ext cx="777240" cy="374904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3192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Write &amp; debug CML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331927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C4C"/>
                </a:solidFill>
                <a:latin typeface="Lexend Deca"/>
              </a:rPr>
              <a:t>8–12 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3236976"/>
            <a:ext cx="2651760" cy="374904"/>
          </a:xfrm>
          <a:prstGeom prst="rect">
            <a:avLst/>
          </a:prstGeom>
          <a:solidFill>
            <a:srgbClr val="C5EDE6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60920" y="3236976"/>
            <a:ext cx="777240" cy="374904"/>
          </a:xfrm>
          <a:prstGeom prst="rect">
            <a:avLst/>
          </a:prstGeom>
          <a:solidFill>
            <a:srgbClr val="C5EDE6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3192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Fix errors (guided by Claude)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331927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050"/>
                </a:solidFill>
                <a:latin typeface="Lexend Deca"/>
              </a:rPr>
              <a:t>30 min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611880"/>
            <a:ext cx="26517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0" y="3611880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36941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Fix import errors iteratively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36941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C4C"/>
                </a:solidFill>
                <a:latin typeface="Lexend Deca"/>
              </a:rPr>
              <a:t>2–3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3611880"/>
            <a:ext cx="265176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60920" y="3611880"/>
            <a:ext cx="777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36941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Validate outputs against Excel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36941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050"/>
                </a:solidFill>
                <a:latin typeface="Lexend Deca"/>
              </a:rPr>
              <a:t>30 min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986784"/>
            <a:ext cx="2651760" cy="374904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0" y="3986784"/>
            <a:ext cx="777240" cy="374904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069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Validate business rules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406908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C4C"/>
                </a:solidFill>
                <a:latin typeface="Lexend Deca"/>
              </a:rPr>
              <a:t>2–3 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3986784"/>
            <a:ext cx="2651760" cy="374904"/>
          </a:xfrm>
          <a:prstGeom prst="rect">
            <a:avLst/>
          </a:prstGeom>
          <a:solidFill>
            <a:srgbClr val="C5EDE6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60920" y="3986784"/>
            <a:ext cx="777240" cy="374904"/>
          </a:xfrm>
          <a:prstGeom prst="rect">
            <a:avLst/>
          </a:prstGeom>
          <a:solidFill>
            <a:srgbClr val="C5EDE6"/>
          </a:solidFill>
          <a:ln>
            <a:solidFill>
              <a:srgbClr val="F5F0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2920" y="4361688"/>
            <a:ext cx="3474720" cy="43891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44439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exend Deca"/>
              </a:rPr>
              <a:t>~24–35 hours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51760" y="44439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Lexend Deca"/>
              </a:rPr>
              <a:t>~3 working days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63440" y="4361688"/>
            <a:ext cx="3474720" cy="43891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00600" y="44439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exend Deca"/>
              </a:rPr>
              <a:t>~3 hours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44439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Lexend Deca"/>
              </a:rPr>
              <a:t>~1 session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~90% time reduction · ~$20 AI credit cost vs. ~$3,000–5,000 in consultant hours · Same quality, full validation, reusable for every next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3 · Ease of using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Conversational configuration — with clear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050"/>
                </a:solidFill>
                <a:latin typeface="Lexend Deca"/>
              </a:rPr>
              <a:t>WHAT WORKED WELL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609344"/>
            <a:ext cx="118872" cy="1188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55448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Lexend Deca"/>
              </a:rPr>
              <a:t>Complex Excel → CML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810512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Lexend Deca"/>
              </a:rPr>
              <a:t>Reverse-engineered 11 formula sheets and 33 validation rules into valid CML constraints through conversation alone.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267712"/>
            <a:ext cx="118872" cy="1188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12848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Lexend Deca"/>
              </a:rPr>
              <a:t>Error-driven iteration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468880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Lexend Deca"/>
              </a:rPr>
              <a:t>Each Salesforce error message was pasted into chat — Claude diagnosed the root cause and produced a corrected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926080"/>
            <a:ext cx="118872" cy="1188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87121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Lexend Deca"/>
              </a:rPr>
              <a:t>Pre-computation 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127248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Lexend Deca"/>
              </a:rPr>
              <a:t>Generated 5,236 table entries and 213 picklist values automatically, with no manual calculation.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584448"/>
            <a:ext cx="118872" cy="1188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529584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Lexend Deca"/>
              </a:rPr>
              <a:t>No specialist tooling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785616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Lexend Deca"/>
              </a:rPr>
              <a:t>No separate IDE, no local environment. Everything produced inside a single Claude session.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207008"/>
            <a:ext cx="27432" cy="31546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C00B1"/>
                </a:solidFill>
                <a:latin typeface="Lexend Deca"/>
              </a:rPr>
              <a:t>WHAT SKILL IS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1554480"/>
            <a:ext cx="274320" cy="82296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5544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Lexend Deca"/>
              </a:rPr>
              <a:t>Salesforce RCA 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81051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Lexend Deca"/>
              </a:rPr>
              <a:t>Understanding of CML, PCM, and the Revenue Cloud data model is required to review outputs and catch domain-specific errors.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2468880"/>
            <a:ext cx="274320" cy="8229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24688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Lexend Deca"/>
              </a:rPr>
              <a:t>Product domain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72491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Lexend Deca"/>
              </a:rPr>
              <a:t>Knowing the product (e.g. which louvre types support guards) is needed to validate that business rules are correct.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728" y="3383280"/>
            <a:ext cx="274320" cy="8229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33832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Lexend Deca"/>
              </a:rPr>
              <a:t>Prompting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63931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Lexend Deca"/>
              </a:rPr>
              <a:t>Pasting error messages and asking targeted follow-up questions drives the iteration. No prompt engineering expertise required.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4343400"/>
            <a:ext cx="4069080" cy="585216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4407408"/>
            <a:ext cx="3858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5000"/>
                </a:solidFill>
                <a:latin typeface="Lexend Deca"/>
              </a:rPr>
              <a:t>⚠  Limitation: Salesforce docs are JS-rendered and cannot be fetched directly. CML validation relied on iterative error feedback rather than reading the spec.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Any consultant with RCA knowledge can drive this workflow. Claude handles volume; the consultant handles judgement.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4 ·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From pilot to standard product onboarding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920240" cy="42062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exend Deca"/>
              </a:rPr>
              <a:t>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920240" cy="38404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739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Lexend Deca"/>
              </a:rPr>
              <a:t>Activate ECO 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Run 11 CSVs in sandbox, ordered 01–11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51760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Activate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8833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Load CML v4 in Constraint Builder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90672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3639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1272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Verify Av / Aa / SL / CO₂ outputs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29584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753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5661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Add pricing once received from KLA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1261872"/>
            <a:ext cx="1920240" cy="42062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133502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exend Deca"/>
              </a:rPr>
              <a:t>2–4 WEEKS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1737360"/>
            <a:ext cx="1920240" cy="384048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17739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Lexend Deca"/>
              </a:rPr>
              <a:t>Production 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2212848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22585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7832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Populate Configurable Product Pricing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2651760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40" y="269748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Apex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7832" y="268833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Build weight callout (factory table)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090672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313639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Sign-off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27832" y="31272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Client UAT and go-live approval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3529584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6040" y="35753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27832" y="35661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Capture actual time vs estimate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1261872"/>
            <a:ext cx="1920240" cy="42062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133502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exend Deca"/>
              </a:rPr>
              <a:t>1–3 MONTHS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60" y="1737360"/>
            <a:ext cx="1920240" cy="384048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17739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Lexend Deca"/>
              </a:rPr>
              <a:t>Scale to all KLA products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212848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22585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Reuse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0952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Apply skill to each product type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2651760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60" y="269748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Budget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0952" y="268833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~$300–600 and 1 session per product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3090672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313639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Refine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0952" y="31272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Update Aa/SL with certified test 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529584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60" y="35753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0952" y="35661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Quarterly check for new variants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12280" y="1261872"/>
            <a:ext cx="1920240" cy="42062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12280" y="133502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exend Deca"/>
              </a:rPr>
              <a:t>ONGOING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2280" y="1737360"/>
            <a:ext cx="1920240" cy="38404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2280" y="177393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Lexend Deca"/>
              </a:rPr>
              <a:t>Govern &amp; improve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12280" y="2212848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12280" y="22585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Version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34072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Keep CML in version control (Git)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2651760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2280" y="269748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Update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34072" y="268833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Patch model when KLA adds variants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12280" y="3090672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2280" y="313639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Monitor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34072" y="312724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Track quality and error rates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12280" y="3529584"/>
            <a:ext cx="566928" cy="329184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12280" y="35753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Expand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34072" y="35661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Roll out to other manufacturers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Ambition: every new KLA product type live in Salesforce RCA within one working day — zero manual configuration, full CML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Claude vs Copilot  ·  Which tool for which job?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Lexend Deca"/>
              </a:rPr>
              <a:t>Can Copilot do the same? Differences and recommendation.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493008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Lexend Deca"/>
              </a:rPr>
              <a:t>Microsoft Copilot  (M365)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1188720"/>
            <a:ext cx="3493008" cy="475488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280160"/>
            <a:ext cx="3493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Lexend Deca"/>
              </a:rPr>
              <a:t>Claude  (Anthropic)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719072"/>
            <a:ext cx="658368" cy="45720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75564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Read Excel
configurator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19072"/>
            <a:ext cx="3438144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" y="1856232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7556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7830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Reads Excel in M365 — can summarise tabs and describe formulas in chat.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1728" y="1719072"/>
            <a:ext cx="3438144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185623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7556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17830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Reads Excel programmatically, extracts every formula, executes calculations.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2176272"/>
            <a:ext cx="658368" cy="45720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21284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Generate
Import CSVs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176272"/>
            <a:ext cx="343814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6072" y="2313432"/>
            <a:ext cx="182880" cy="18288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22128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65"/>
                </a:solidFill>
                <a:latin typeface="Lexend Deca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2402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Can draft CSV content in a chat reply. Cannot create and download real files.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2176272"/>
            <a:ext cx="343814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54880" y="231343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2128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1768" y="22402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Creates real, downloadable .csv and .xlsx files via code execution.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39" y="2633472"/>
            <a:ext cx="658368" cy="45720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39" y="267004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Write CML
constraint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633472"/>
            <a:ext cx="3438144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6072" y="2770632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26700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26974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Can write CML text if prompted. No code execution to verify or iterate.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81728" y="2633472"/>
            <a:ext cx="3438144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0" y="277063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26700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1768" y="26974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Writes CML, receives error messages, diagnoses root cause, corrects file.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7639" y="3090672"/>
            <a:ext cx="658368" cy="45720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77639" y="312724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Pre-compute
5,236 table rows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090672"/>
            <a:ext cx="343814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6072" y="3227832"/>
            <a:ext cx="182880" cy="18288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31272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65"/>
                </a:solidFill>
                <a:latin typeface="Lexend Deca"/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31546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Cannot run Python/bash. Would require the user to copy into Excel manually.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81728" y="3090672"/>
            <a:ext cx="343814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754880" y="322783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1272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01768" y="31546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Runs Python in session, generates all rows automatically in seconds.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7639" y="3547872"/>
            <a:ext cx="658368" cy="45720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77639" y="358444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Iterate on
Salesforce errors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3547872"/>
            <a:ext cx="3438144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76072" y="3685032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35844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36118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Offers suggestions in chat. No memory across sessions — context resets.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81728" y="3547872"/>
            <a:ext cx="3438144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754880" y="368503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35844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01768" y="36118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Full conversation context preserved. Fixes each error with precise edits.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77639" y="4005072"/>
            <a:ext cx="658368" cy="45720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77639" y="404164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M365 / Teams
integration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4005072"/>
            <a:ext cx="343814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6072" y="414223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072" y="40416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40690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Native — reads emails, calendar, SharePoint, Teams. Deep M365 access.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81728" y="4005072"/>
            <a:ext cx="343814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754880" y="4142232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0" y="40416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01768" y="40690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No native M365 access. Works standalone or via API / MCP connectors.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77639" y="4462272"/>
            <a:ext cx="658368" cy="45720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77639" y="4498848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exend Deca"/>
              </a:rPr>
              <a:t>Existing tool
in your org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4462272"/>
            <a:ext cx="3438144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76072" y="459943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72" y="44988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45262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Already licensed, familiar to consultants, approved by IT.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81728" y="4462272"/>
            <a:ext cx="3438144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754880" y="4599432"/>
            <a:ext cx="182880" cy="1828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0" y="449884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01768" y="4526280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Separate subscription. Requires onboarding and IT approval.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4974336"/>
            <a:ext cx="3493008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5047488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Lexend Deca"/>
              </a:rPr>
              <a:t>Use Copilot for  →  daily M365 tasks, email drafting, meeting summaries, simple document Q&amp;A.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81728" y="4974336"/>
            <a:ext cx="3493008" cy="475488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73168" y="5047488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Lexend Deca"/>
              </a:rPr>
              <a:t>Use Claude for  →  complex data transformation, file generation, CML/code authoring, iterative technical problem 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5CB672AF67F44D950DBE54A5A52241" ma:contentTypeVersion="17" ma:contentTypeDescription="Create a new document." ma:contentTypeScope="" ma:versionID="1757fad67ccba543cf071e268e2ef806">
  <xsd:schema xmlns:xsd="http://www.w3.org/2001/XMLSchema" xmlns:xs="http://www.w3.org/2001/XMLSchema" xmlns:p="http://schemas.microsoft.com/office/2006/metadata/properties" xmlns:ns2="05e8a59d-3a81-4b74-849a-9f125a18a5d5" xmlns:ns3="52217aa2-56c0-4537-a16b-21b948960df3" targetNamespace="http://schemas.microsoft.com/office/2006/metadata/properties" ma:root="true" ma:fieldsID="3406f66a34ebb4d667a2549e1a052923" ns2:_="" ns3:_="">
    <xsd:import namespace="05e8a59d-3a81-4b74-849a-9f125a18a5d5"/>
    <xsd:import namespace="52217aa2-56c0-4537-a16b-21b948960d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e8a59d-3a81-4b74-849a-9f125a18a5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7b3f3f-e5a1-4961-851f-eb29f9d0b8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217aa2-56c0-4537-a16b-21b948960df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117214b-65a8-4a4a-8087-04c3d591675e}" ma:internalName="TaxCatchAll" ma:showField="CatchAllData" ma:web="52217aa2-56c0-4537-a16b-21b948960d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e8a59d-3a81-4b74-849a-9f125a18a5d5">
      <Terms xmlns="http://schemas.microsoft.com/office/infopath/2007/PartnerControls"/>
    </lcf76f155ced4ddcb4097134ff3c332f>
    <Status xmlns="05e8a59d-3a81-4b74-849a-9f125a18a5d5" xsi:nil="true"/>
    <TaxCatchAll xmlns="52217aa2-56c0-4537-a16b-21b948960df3" xsi:nil="true"/>
  </documentManagement>
</p:properties>
</file>

<file path=customXml/itemProps1.xml><?xml version="1.0" encoding="utf-8"?>
<ds:datastoreItem xmlns:ds="http://schemas.openxmlformats.org/officeDocument/2006/customXml" ds:itemID="{19403916-FA37-4970-966E-B428FCAD014D}"/>
</file>

<file path=customXml/itemProps2.xml><?xml version="1.0" encoding="utf-8"?>
<ds:datastoreItem xmlns:ds="http://schemas.openxmlformats.org/officeDocument/2006/customXml" ds:itemID="{439D3CB7-9BEC-4C1C-BC1A-074B031F103A}"/>
</file>

<file path=customXml/itemProps3.xml><?xml version="1.0" encoding="utf-8"?>
<ds:datastoreItem xmlns:ds="http://schemas.openxmlformats.org/officeDocument/2006/customXml" ds:itemID="{AF54E078-ECD4-4FFE-AD1A-55915888C8E4}"/>
</file>

<file path=docProps/app.xml><?xml version="1.0" encoding="utf-8"?>
<Properties xmlns="http://schemas.openxmlformats.org/officeDocument/2006/extended-properties" xmlns:vt="http://schemas.openxmlformats.org/officeDocument/2006/docPropsVTypes">
  <Application>python-pptx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Nextview Consulting</dc:creator>
  <cp:lastModifiedBy>Nextview Consulting</cp:lastModifiedBy>
  <cp:revision>1</cp:revision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0x0101000C5CB672AF67F44D950DBE54A5A52241</vt:lpwstr>
  </property>
</Properties>
</file>