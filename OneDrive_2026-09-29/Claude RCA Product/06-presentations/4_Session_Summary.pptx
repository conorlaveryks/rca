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6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8" r:id="rId13"/>
    <p:sldId id="272" r:id="rId9"/>
    <p:sldId id="269" r:id="rId12"/>
    <p:sldId id="270" r:id="rId11"/>
    <p:sldId id="271" r:id="rId10"/>
    <p:sldId id="267" r:id="rId25"/>
  </p:sldIdLst>
  <p:sldSz cy="6858000" cx="121917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5.xml"/><Relationship Id="rId26" Type="http://schemas.openxmlformats.org/officeDocument/2006/relationships/customXml" Target="../customXml/item1.xml"/><Relationship Id="rId3" Type="http://schemas.openxmlformats.org/officeDocument/2006/relationships/presProps" Target="presProps.xml"/><Relationship Id="rId21" Type="http://schemas.openxmlformats.org/officeDocument/2006/relationships/slide" Target="slides/slide8.xml"/><Relationship Id="rId12" Type="http://schemas.openxmlformats.org/officeDocument/2006/relationships/slide" Target="slides/slide13.xml"/><Relationship Id="rId17" Type="http://schemas.openxmlformats.org/officeDocument/2006/relationships/slide" Target="slides/slide4.xml"/><Relationship Id="rId25" Type="http://schemas.openxmlformats.org/officeDocument/2006/relationships/slide" Target="slides/slide16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1" Type="http://schemas.openxmlformats.org/officeDocument/2006/relationships/theme" Target="theme/theme1.xml"/><Relationship Id="rId11" Type="http://schemas.openxmlformats.org/officeDocument/2006/relationships/slide" Target="slides/slide14.xml"/><Relationship Id="rId24" Type="http://schemas.openxmlformats.org/officeDocument/2006/relationships/slide" Target="slides/slide11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customXml" Target="../customXml/item3.xml"/><Relationship Id="rId10" Type="http://schemas.openxmlformats.org/officeDocument/2006/relationships/slide" Target="slides/slide15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7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797325" y="813650"/>
            <a:ext cx="51483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exend Deca Medium"/>
              <a:buNone/>
              <a:defRPr sz="40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835425" y="576900"/>
            <a:ext cx="51483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title"/>
          </p:nvPr>
        </p:nvSpPr>
        <p:spPr>
          <a:xfrm>
            <a:off x="8857675" y="5534025"/>
            <a:ext cx="2467500" cy="5145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"/>
              <a:buNone/>
              <a:defRPr sz="1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4" type="title"/>
          </p:nvPr>
        </p:nvSpPr>
        <p:spPr>
          <a:xfrm>
            <a:off x="790575" y="2266950"/>
            <a:ext cx="33861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 Medium"/>
              <a:buNone/>
              <a:defRPr sz="16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9" name="Google Shape;19;p2"/>
          <p:cNvSpPr/>
          <p:nvPr>
            <p:ph idx="5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 1">
  <p:cSld name="TITLE_AND_BODY_1_1_2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0" y="-71300"/>
            <a:ext cx="12191700" cy="6929400"/>
          </a:xfrm>
          <a:prstGeom prst="rect">
            <a:avLst/>
          </a:prstGeom>
          <a:solidFill>
            <a:srgbClr val="00D0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795338" y="1451050"/>
            <a:ext cx="195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3075825" y="1451050"/>
            <a:ext cx="335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/>
        </p:nvSpPr>
        <p:spPr>
          <a:xfrm>
            <a:off x="4100753" y="1502700"/>
            <a:ext cx="28146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4239000" y="4770650"/>
            <a:ext cx="36453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 Deca SemiBold"/>
              <a:ea typeface="Lexend Deca SemiBold"/>
              <a:cs typeface="Lexend Deca SemiBold"/>
              <a:sym typeface="Lexend Deca SemiBold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699932" y="1985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50"/>
              <a:buFont typeface="Lexend Deca"/>
              <a:buNone/>
              <a:defRPr sz="37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30" name="Google Shape;30;p3"/>
          <p:cNvSpPr txBox="1"/>
          <p:nvPr>
            <p:ph idx="2" type="title"/>
          </p:nvPr>
        </p:nvSpPr>
        <p:spPr>
          <a:xfrm>
            <a:off x="795350" y="165720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exend Deca"/>
              <a:buNone/>
              <a:defRPr sz="15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3"/>
          <p:cNvSpPr txBox="1"/>
          <p:nvPr>
            <p:ph idx="3" type="title"/>
          </p:nvPr>
        </p:nvSpPr>
        <p:spPr>
          <a:xfrm>
            <a:off x="3075900" y="1741475"/>
            <a:ext cx="3353400" cy="3996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 Deca"/>
              <a:buNone/>
              <a:defRPr sz="11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2">
  <p:cSld name="TITLE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0" y="1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ctrTitle"/>
          </p:nvPr>
        </p:nvSpPr>
        <p:spPr>
          <a:xfrm>
            <a:off x="793675" y="803775"/>
            <a:ext cx="51948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Magenta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Magenta">
  <p:cSld name="SECTION_HEADER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6" name="Google Shape;46;p6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Purple">
  <p:cSld name="SECTION_HEADER_2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Purple">
  <p:cSld name="SECTION_HEADER_2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7" name="Google Shape;57;p8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Green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Green">
  <p:cSld name="SECTION_HEADER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Blue">
  <p:cSld name="SECTION_HEADER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Blue">
  <p:cSld name="SECTION_HEADER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Green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4" type="title"/>
          </p:nvPr>
        </p:nvSpPr>
        <p:spPr>
          <a:xfrm>
            <a:off x="699932" y="3509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90" name="Google Shape;90;p13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Blue">
  <p:cSld name="TITLE_AND_BODY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2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idx="4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Green">
  <p:cSld name="TITLE_AND_BODY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">
  <p:cSld name="TITLE_AND_BODY_1_1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5" name="Google Shape;115;p16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17" name="Google Shape;117;p16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Blue">
  <p:cSld name="TITLE_AND_BOD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26" name="Google Shape;126;p17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Blue">
  <p:cSld name="TITLE_AND_BODY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White">
  <p:cSld name="TITLE_AND_BODY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44" name="Google Shape;144;p19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White">
  <p:cSld name="TITLE_AND_BODY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1" name="Google Shape;151;p20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white slide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2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1218838" y="0"/>
            <a:ext cx="10953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67325" y="599350"/>
            <a:ext cx="106740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SemiBold"/>
              <a:buNone/>
              <a:defRPr sz="36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07625" y="1536625"/>
            <a:ext cx="10533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exend Deca"/>
              <a:buChar char="●"/>
              <a:defRPr sz="2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algn="ctr">
              <a:buNone/>
              <a:defRPr sz="1400">
                <a:solidFill>
                  <a:schemeClr val="dk2"/>
                </a:solidFill>
              </a:defRPr>
            </a:lvl1pPr>
            <a:lvl2pPr lvl="1" algn="ctr">
              <a:buNone/>
              <a:defRPr sz="1400">
                <a:solidFill>
                  <a:schemeClr val="dk2"/>
                </a:solidFill>
              </a:defRPr>
            </a:lvl2pPr>
            <a:lvl3pPr lvl="2" algn="ctr">
              <a:buNone/>
              <a:defRPr sz="1400">
                <a:solidFill>
                  <a:schemeClr val="dk2"/>
                </a:solidFill>
              </a:defRPr>
            </a:lvl3pPr>
            <a:lvl4pPr lvl="3" algn="ctr">
              <a:buNone/>
              <a:defRPr sz="1400">
                <a:solidFill>
                  <a:schemeClr val="dk2"/>
                </a:solidFill>
              </a:defRPr>
            </a:lvl4pPr>
            <a:lvl5pPr lvl="4" algn="ctr">
              <a:buNone/>
              <a:defRPr sz="1400">
                <a:solidFill>
                  <a:schemeClr val="dk2"/>
                </a:solidFill>
              </a:defRPr>
            </a:lvl5pPr>
            <a:lvl6pPr lvl="5" algn="ctr">
              <a:buNone/>
              <a:defRPr sz="1400">
                <a:solidFill>
                  <a:schemeClr val="dk2"/>
                </a:solidFill>
              </a:defRPr>
            </a:lvl6pPr>
            <a:lvl7pPr lvl="6" algn="ctr">
              <a:buNone/>
              <a:defRPr sz="1400">
                <a:solidFill>
                  <a:schemeClr val="dk2"/>
                </a:solidFill>
              </a:defRPr>
            </a:lvl7pPr>
            <a:lvl8pPr lvl="7" algn="ctr">
              <a:buNone/>
              <a:defRPr sz="1400">
                <a:solidFill>
                  <a:schemeClr val="dk2"/>
                </a:solidFill>
              </a:defRPr>
            </a:lvl8pPr>
            <a:lvl9pPr lvl="8" algn="ctr">
              <a:buNone/>
              <a:defRPr sz="1400"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66975" y="6481068"/>
            <a:ext cx="199100" cy="497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 Tech Product Template</a:t>
            </a:r>
          </a:p>
          <a:p>
            <a:r>
              <a:t>Salesforce RCA Onboarding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KLA / Kingspan Light + Air  |  Nextview Consulting  |  May 2026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/>
        </p:txBody>
      </p:sp>
      <p:sp>
        <p:nvSpPr>
          <p:cNvPr id="6" name="Picture Placeholder 5"/>
          <p:cNvSpPr>
            <a:spLocks noGrp="1"/>
          </p:cNvSpPr>
          <p:nvPr>
            <p:ph type="pic" idx="5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End-to-end Salesforce RCA product onboarding for the ECO Roof Ventilator CO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17320"/>
            <a:ext cx="1737360" cy="146304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Lexend Deca"/>
              </a:rPr>
              <a:t>Excel
Configurator
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4912" y="1417320"/>
            <a:ext cx="1737360" cy="146304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Lexend Deca"/>
              </a:rPr>
              <a:t>Product Price
Template
(.xlsx)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417320"/>
            <a:ext cx="1737360" cy="14630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Lexend Deca"/>
              </a:rPr>
              <a:t>11 Salesforce
Import CSVs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1968" y="1417320"/>
            <a:ext cx="1737360" cy="146304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Lexend Deca"/>
              </a:rPr>
              <a:t>CML Constraint
Model v4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00B1"/>
                </a:solidFill>
                <a:latin typeface="Lexend Deca"/>
              </a:rPr>
              <a:t>Column G validations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Lexend Deca"/>
              </a:rPr>
              <a:t>33 Excel data-sheet rules converted to CML constraint implications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00B1"/>
                </a:solidFill>
                <a:latin typeface="Lexend Deca"/>
              </a:rPr>
              <a:t>Output attributes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204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Lexend Deca"/>
              </a:rPr>
              <a:t>12 read-only computed fields: Av, Aa, SL, WL, T-class, CO2, pressure, U-value,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C00B1"/>
                </a:solidFill>
                <a:latin typeface="Lexend Deca"/>
              </a:rPr>
              <a:t>Aa 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Lexend Deca"/>
              </a:rPr>
              <a:t>Tree-node search limit fixed by replacing 28 arithmetic implications with 17 pre-computed 308-row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Files &amp;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All deliverables produced in this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17320"/>
            <a:ext cx="1554480" cy="50292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00B1"/>
                </a:solidFill>
                <a:latin typeface="Lexend Deca"/>
              </a:rPr>
              <a:t>ECOTech_ProductPriceTemplate.xlsx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Product Price Template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1417320"/>
            <a:ext cx="155448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ZIP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00B1"/>
                </a:solidFill>
                <a:latin typeface="Lexend Deca"/>
              </a:rPr>
              <a:t>ECOTech_SF_Import_CSVs.zip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11 Salesforce import CSVs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417320"/>
            <a:ext cx="1554480" cy="5029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00B1"/>
                </a:solidFill>
                <a:latin typeface="Lexend Deca"/>
              </a:rPr>
              <a:t>03b_AttributePicklistValue_FIXES.csv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87952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Picklist value error fixes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88736" y="1417320"/>
            <a:ext cx="1554480" cy="50292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CML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00B1"/>
                </a:solidFill>
                <a:latin typeface="Lexend Deca"/>
              </a:rPr>
              <a:t>ECO_CO_ConstraintModel_v4.cml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88736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CML constraint model (final)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1417320"/>
            <a:ext cx="155448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965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C00B1"/>
                </a:solidFill>
                <a:latin typeface="Lexend Deca"/>
              </a:rPr>
              <a:t>02b / 04b / 08b *.csv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2677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Output attribute definitions + category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CML Constraint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Constraint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14 sections, 5,236+ pre-computed table entries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17320"/>
            <a:ext cx="1645920" cy="27797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1. Throat code → 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78024" y="1417320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Table: 14 widths + 22 lengths → mm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417320"/>
            <a:ext cx="1645920" cy="27797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2. Number of louvres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17320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Table: Length_mm → louvre count (22 rows)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1764792"/>
            <a:ext cx="1645920" cy="27797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3. Geometric area 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78024" y="1764792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Table: Width × Length → Av m² (308 rows)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764792"/>
            <a:ext cx="1645920" cy="27797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4. Aerodynamic area 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64792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17 pre-computed tables × 308 rows = 5,236 entries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2112264"/>
            <a:ext cx="1645920" cy="27797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5. Release 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8024" y="2112264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Table: ThermalRelease code → °C (35 rows)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2112264"/>
            <a:ext cx="1645920" cy="27797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6. Ambient temp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12264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Constraint implications per control family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2459736"/>
            <a:ext cx="1645920" cy="27797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7. CO2 bottle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78024" y="2459736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Constraint implications: control + release → X/20/28/40 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459736"/>
            <a:ext cx="1645920" cy="27797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8. Opening pressures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59736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Constraint: size band → 2 / 4.9 / 9.8 bar or 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2807208"/>
            <a:ext cx="1645920" cy="27797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9. Wind load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78024" y="2807208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Constraint: louvre type + size → 1500/3000/4000 N/m²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807208"/>
            <a:ext cx="1645920" cy="27797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10. Snow 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807208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Constraint: control family + version → SL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3154680"/>
            <a:ext cx="1645920" cy="27797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11. U-value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78024" y="3154680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Table: LouvreType × Insulation → W/(m²K)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3154680"/>
            <a:ext cx="1645920" cy="27797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12. Weight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154680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Sentinel X — requires Apex callout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3502152"/>
            <a:ext cx="1645920" cy="27797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13. Business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78024" y="3502152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9 exclusion + requirement constraints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3502152"/>
            <a:ext cx="1645920" cy="277978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Lexend Deca"/>
              </a:rPr>
              <a:t>14. Column G validations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502152"/>
            <a:ext cx="2011680" cy="277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33 Excel data-sheet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Errors encountered &amp; fixes applied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Iterative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6 errors resolved across 4 versions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371600"/>
            <a:ext cx="640080" cy="47548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" y="137160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0065"/>
                </a:solidFill>
                <a:latin typeface="Lexend Deca"/>
              </a:rPr>
              <a:t>action() not possible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208" y="137160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action() is relation-only in CML. Replaced with constraint(table) and constraint(condition -&gt; value).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938528"/>
            <a:ext cx="640080" cy="47548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v2.0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1938528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0065"/>
                </a:solidFill>
                <a:latin typeface="Lexend Deca"/>
              </a:rPr>
              <a:t>@(readOnly) not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1938528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Not a valid annotation. Replaced with @(configurable = false).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505456"/>
            <a:ext cx="640080" cy="47548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v2.0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9616" y="2505456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0065"/>
                </a:solidFill>
                <a:latin typeface="Lexend Deca"/>
              </a:rPr>
              <a:t>.startsWith() not supported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2505456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CML has no string methods. Expanded to explicit OR lists.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072384"/>
            <a:ext cx="640080" cy="47548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v3.0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307238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0065"/>
                </a:solidFill>
                <a:latin typeface="Lexend Deca"/>
              </a:rPr>
              <a:t>@(hidden) not supported on 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3072384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Removed annotation. Three proxy variables declared plainly.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639312"/>
            <a:ext cx="640080" cy="47548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v3.0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6393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0065"/>
                </a:solidFill>
                <a:latin typeface="Lexend Deca"/>
              </a:rPr>
              <a:t>ROUND() not supported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3639312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Removed all ROUND() wrappers; decimal(2) type handles precision natively.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206240"/>
            <a:ext cx="640080" cy="47548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v4.0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4206240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0065"/>
                </a:solidFill>
                <a:latin typeface="Lexend Deca"/>
              </a:rPr>
              <a:t>Tree node search limit on ECO_AeroAreaAa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420624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Arithmetic in implications caused unbounded decimal search. Fixed with 17 pre-computed 308-row table constraints (5,236 entries).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Session usage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Estimated token and credit consumption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17320"/>
            <a:ext cx="1554480" cy="118872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00000"/>
                </a:solidFill>
                <a:latin typeface="Lexend Deca"/>
              </a:rPr>
              <a:t>~1.2M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651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00B1"/>
                </a:solidFill>
                <a:latin typeface="Lexend Deca"/>
              </a:rPr>
              <a:t>Input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953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Lexend Deca"/>
              </a:rPr>
              <a:t>Long conversation + large file reads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9464" y="1417320"/>
            <a:ext cx="1554480" cy="11887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00000"/>
                </a:solidFill>
                <a:latin typeface="Lexend Deca"/>
              </a:rPr>
              <a:t>~380K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9464" y="2651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00B1"/>
                </a:solidFill>
                <a:latin typeface="Lexend Deca"/>
              </a:rPr>
              <a:t>Output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9464" y="2953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Lexend Deca"/>
              </a:rPr>
              <a:t>CML (6,400 lines), 11 CSVs, 5 Excel files,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52544" y="1417320"/>
            <a:ext cx="1554480" cy="11887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00000"/>
                </a:solidFill>
                <a:latin typeface="Lexend Deca"/>
              </a:rPr>
              <a:t>~$18–22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2651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00B1"/>
                </a:solidFill>
                <a:latin typeface="Lexend Deca"/>
              </a:rPr>
              <a:t>Estimated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29535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Lexend Deca"/>
              </a:rPr>
              <a:t>Claude Sonnet 4.6 at $3/$15 per M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2834640"/>
            <a:ext cx="1554480" cy="118872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00000"/>
                </a:solidFill>
                <a:latin typeface="Lexend Deca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00B1"/>
                </a:solidFill>
                <a:latin typeface="Lexend Deca"/>
              </a:rPr>
              <a:t>Tool calls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3708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Lexend Deca"/>
              </a:rPr>
              <a:t>Bash, file creates, web searches, file reads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2834640"/>
            <a:ext cx="1554480" cy="11887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00000"/>
                </a:solidFill>
                <a:latin typeface="Lexend Deca"/>
              </a:rPr>
              <a:t>~5,600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00B1"/>
                </a:solidFill>
                <a:latin typeface="Lexend Deca"/>
              </a:rPr>
              <a:t>CML table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9464" y="43708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Lexend Deca"/>
              </a:rPr>
              <a:t>Pre-computed across 17 Aa groups + GeomAreaAv + NumLouvres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52544" y="2834640"/>
            <a:ext cx="1554480" cy="11887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2600" b="1">
                <a:solidFill>
                  <a:srgbClr val="000000"/>
                </a:solidFill>
                <a:latin typeface="Lexend Dec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40690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00B1"/>
                </a:solidFill>
                <a:latin typeface="Lexend Deca"/>
              </a:rPr>
              <a:t>CML versions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2544" y="43708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Lexend Deca"/>
              </a:rPr>
              <a:t>v1 → v2 → v3 → v4 (iterative validation)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"/>
          </p:nvPr>
        </p:nvSpPr>
        <p:spPr/>
        <p:txBody>
          <a:bodyPr/>
          <a:p>
            <a:r>
              <a:rPr sz="1300">
                <a:latin typeface="Lexend Deca"/>
              </a:rPr>
              <a:t>Upload ECO_CO_ConstraintModel_v4.cml to the Salesforce RCA Constraint Builder and activate</a:t>
            </a:r>
          </a:p>
          <a:p>
            <a:r>
              <a:rPr sz="1300">
                <a:latin typeface="Lexend Deca"/>
              </a:rPr>
              <a:t>Validate all 11 Salesforce import CSVs in sandbox — run in numbered order (01 → 11)</a:t>
            </a:r>
          </a:p>
          <a:p>
            <a:r>
              <a:rPr sz="1300">
                <a:latin typeface="Lexend Deca"/>
              </a:rPr>
              <a:t>Fill Product Owner email, Product Family, and Pricebook Name in 06_Product2.csv and 10_PricebookEntry.csv</a:t>
            </a:r>
          </a:p>
          <a:p>
            <a:r>
              <a:rPr sz="1300">
                <a:latin typeface="Lexend Deca"/>
              </a:rPr>
              <a:t>Request pricing from KLA factory and populate Configurable Product Pricing tab + 11_Attribute_Pricing__c.csv</a:t>
            </a:r>
          </a:p>
          <a:p>
            <a:r>
              <a:rPr sz="1300">
                <a:latin typeface="Lexend Deca"/>
              </a:rPr>
              <a:t>Implement Apex invocable action for Weight (weight!C352 table — 500+ row lookup)</a:t>
            </a:r>
          </a:p>
          <a:p>
            <a:r>
              <a:rPr sz="1300">
                <a:latin typeface="Lexend Deca"/>
              </a:rPr>
              <a:t>Run regression test in sandbox configurator: select width 15 / length 15 / POR / P1BD / FS68 → verify Av=1.64, Aa=1.02, SL=1618, CO2=20g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/>
        </p:txBody>
      </p:sp>
      <p:sp>
        <p:nvSpPr>
          <p:cNvPr id="6" name="Title 5"/>
          <p:cNvSpPr>
            <a:spLocks noGrp="1"/>
          </p:cNvSpPr>
          <p:nvPr>
            <p:ph type="title" idx="5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Management overview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Management overview  · 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Cost to load data into 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417320"/>
            <a:ext cx="2468880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Lexend Deca"/>
              </a:rPr>
              <a:t>One-time
data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99339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C00B1"/>
                </a:solidFill>
                <a:latin typeface="Lexend Deca"/>
              </a:rPr>
              <a:t>~$800–1,200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51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Lexend Deca"/>
              </a:rPr>
              <a:t>Claude session
+ implementation
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3291840"/>
            <a:ext cx="2468880" cy="82296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Actual session cost
~$20. Remaining
cost = review +
sandbox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417320"/>
            <a:ext cx="2468880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Lexend Deca"/>
              </a:rPr>
              <a:t>Repeat product
onboarding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99339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C00B1"/>
                </a:solidFill>
                <a:latin typeface="Lexend Deca"/>
              </a:rPr>
              <a:t>~$300–600
per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651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Lexend Deca"/>
              </a:rPr>
              <a:t>Reuse skill +
import CSVs
+ CML 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3291840"/>
            <a:ext cx="2468880" cy="8229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Each new KLA
product type reuses
80% of the workflow.
Only attribute delta
needs rework.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468880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Lexend Deca"/>
              </a:rPr>
              <a:t>Apex callout
(Weight field)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93392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4C00B1"/>
                </a:solidFill>
                <a:latin typeface="Lexend Deca"/>
              </a:rPr>
              <a:t>~$2,000–4,000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65176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Lexend Deca"/>
              </a:rPr>
              <a:t>One-time custom
Apex dev for
weight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291840"/>
            <a:ext cx="2468880" cy="8229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 wrap="square"/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All other output
fields work purely
in CML — no
code needed.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C00B1"/>
                </a:solidFill>
                <a:latin typeface="Lexend Deca"/>
              </a:rPr>
              <a:t>Total estimated cost for ECO CO onboarding (exc. Apex): ~$800–1,500  |  Recurring cost per additional KLA product: ~$300–600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Management overview  · 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Ease of using Claude in this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325880"/>
            <a:ext cx="3749039" cy="384048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Lexend Deca"/>
              </a:rPr>
              <a:t>What worked 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325880"/>
            <a:ext cx="3749039" cy="384048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  <a:latin typeface="Lexend Deca"/>
              </a:rPr>
              <a:t>Challenges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1856232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105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Reverse-engineered 11 Excel formula sheets into CML rules without manual formula reading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2249424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20370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Generated 308-row pre-computed lookup tables from dimension mappings automatically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2642616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59689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Validated CML syntax iteratively — each error message led to a precise fix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3035808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990088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Produced all 11 Salesforce import CSVs from the Excel data in a single session</a:t>
            </a:r>
          </a:p>
        </p:txBody>
      </p:sp>
      <p:sp>
        <p:nvSpPr>
          <p:cNvPr id="16" name="Oval 15"/>
          <p:cNvSpPr/>
          <p:nvPr/>
        </p:nvSpPr>
        <p:spPr>
          <a:xfrm>
            <a:off x="786384" y="3429000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3832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Translated 33 column-G Excel validation rules to CML constraints without ambiguity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" y="3822192"/>
            <a:ext cx="137160" cy="13716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7764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Identified the tree-node search limit root cause and applied the correct architectural fix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1856232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810512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CML documentation could not be fetched directly (JS-rendered Salesforce docs) — relied on reasoning from error messages</a:t>
            </a:r>
          </a:p>
        </p:txBody>
      </p:sp>
      <p:sp>
        <p:nvSpPr>
          <p:cNvPr id="22" name="Oval 21"/>
          <p:cNvSpPr/>
          <p:nvPr/>
        </p:nvSpPr>
        <p:spPr>
          <a:xfrm>
            <a:off x="4754880" y="2368296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2322576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4 iteration cycles needed before a fully valid CML file was produced</a:t>
            </a:r>
          </a:p>
        </p:txBody>
      </p:sp>
      <p:sp>
        <p:nvSpPr>
          <p:cNvPr id="24" name="Oval 23"/>
          <p:cNvSpPr/>
          <p:nvPr/>
        </p:nvSpPr>
        <p:spPr>
          <a:xfrm>
            <a:off x="4754880" y="2880360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283464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action() vs constraint() distinction required explicit error feedback to correct</a:t>
            </a:r>
          </a:p>
        </p:txBody>
      </p:sp>
      <p:sp>
        <p:nvSpPr>
          <p:cNvPr id="26" name="Oval 25"/>
          <p:cNvSpPr/>
          <p:nvPr/>
        </p:nvSpPr>
        <p:spPr>
          <a:xfrm>
            <a:off x="4754880" y="3392424"/>
            <a:ext cx="137160" cy="13716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3346704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Lexend Deca"/>
              </a:rPr>
              <a:t>Aa calculation required architectural rethink (5,236 pre-computed entries) to avoid search limit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6384" y="4206240"/>
            <a:ext cx="7754112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Lexend Deca"/>
              </a:rPr>
              <a:t>Verdict: a consultant with Salesforce RCA knowledge can onboard a product like ECO CO in one session with Claude — work that would otherwise take 2–3 days of manual configuration.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0065"/>
                </a:solidFill>
                <a:latin typeface="Lexend Deca"/>
              </a:rPr>
              <a:t>Management overview  · 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Lexend Deca"/>
              </a:rPr>
              <a:t>Path forward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325880"/>
            <a:ext cx="1920240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1892807"/>
            <a:ext cx="1920240" cy="41148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Validate &amp; activate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414016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377440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Run 11 import CSVs in sandbox (numbered order)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2889504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2852928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Activate CML v4 in Constraint Builder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364992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3328416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Verify Av/Aa/SL/CO2 for reference size 15×15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9504" y="1325880"/>
            <a:ext cx="1920240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Short term
(2–4 weeks)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9504" y="1892807"/>
            <a:ext cx="1920240" cy="41148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Complete &amp; price</a:t>
            </a:r>
          </a:p>
        </p:txBody>
      </p:sp>
      <p:sp>
        <p:nvSpPr>
          <p:cNvPr id="16" name="Oval 15"/>
          <p:cNvSpPr/>
          <p:nvPr/>
        </p:nvSpPr>
        <p:spPr>
          <a:xfrm>
            <a:off x="2889504" y="2414016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72384" y="2377440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Fill Product Owner and Pricebook Name fields</a:t>
            </a:r>
          </a:p>
        </p:txBody>
      </p:sp>
      <p:sp>
        <p:nvSpPr>
          <p:cNvPr id="18" name="Oval 17"/>
          <p:cNvSpPr/>
          <p:nvPr/>
        </p:nvSpPr>
        <p:spPr>
          <a:xfrm>
            <a:off x="2889504" y="2889504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72384" y="2852928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Receive factory pricing from KLA</a:t>
            </a:r>
          </a:p>
        </p:txBody>
      </p:sp>
      <p:sp>
        <p:nvSpPr>
          <p:cNvPr id="20" name="Oval 19"/>
          <p:cNvSpPr/>
          <p:nvPr/>
        </p:nvSpPr>
        <p:spPr>
          <a:xfrm>
            <a:off x="2889504" y="3364992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72384" y="3328416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Populate Configurable Product Pricing tab</a:t>
            </a:r>
          </a:p>
        </p:txBody>
      </p:sp>
      <p:sp>
        <p:nvSpPr>
          <p:cNvPr id="22" name="Oval 21"/>
          <p:cNvSpPr/>
          <p:nvPr/>
        </p:nvSpPr>
        <p:spPr>
          <a:xfrm>
            <a:off x="2889504" y="3840480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72384" y="3803904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Apex callout for Weight field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92624" y="1325880"/>
            <a:ext cx="1920240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Medium term
(1–3 months)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2624" y="1892807"/>
            <a:ext cx="1920240" cy="4114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Scale to other products</a:t>
            </a:r>
          </a:p>
        </p:txBody>
      </p:sp>
      <p:sp>
        <p:nvSpPr>
          <p:cNvPr id="26" name="Oval 25"/>
          <p:cNvSpPr/>
          <p:nvPr/>
        </p:nvSpPr>
        <p:spPr>
          <a:xfrm>
            <a:off x="4992624" y="2414016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5504" y="2377440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Onboard remaining KLA product types using the reusable skill</a:t>
            </a:r>
          </a:p>
        </p:txBody>
      </p:sp>
      <p:sp>
        <p:nvSpPr>
          <p:cNvPr id="28" name="Oval 27"/>
          <p:cNvSpPr/>
          <p:nvPr/>
        </p:nvSpPr>
        <p:spPr>
          <a:xfrm>
            <a:off x="4992624" y="2889504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75504" y="2852928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Each additional product: ~$300–600 and one session</a:t>
            </a:r>
          </a:p>
        </p:txBody>
      </p:sp>
      <p:sp>
        <p:nvSpPr>
          <p:cNvPr id="30" name="Oval 29"/>
          <p:cNvSpPr/>
          <p:nvPr/>
        </p:nvSpPr>
        <p:spPr>
          <a:xfrm>
            <a:off x="4992624" y="3364992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5504" y="3328416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Refine Aa / SL tables with certified test data from KLA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95744" y="1325880"/>
            <a:ext cx="1920240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Lexend Deca"/>
              </a:rPr>
              <a:t>Ongoing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1892807"/>
            <a:ext cx="1920240" cy="41148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Lexend Deca"/>
              </a:rPr>
              <a:t>Governance</a:t>
            </a:r>
          </a:p>
        </p:txBody>
      </p:sp>
      <p:sp>
        <p:nvSpPr>
          <p:cNvPr id="34" name="Oval 33"/>
          <p:cNvSpPr/>
          <p:nvPr/>
        </p:nvSpPr>
        <p:spPr>
          <a:xfrm>
            <a:off x="7095744" y="2414016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8624" y="2377440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Maintain CML in version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7095744" y="2889504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8624" y="2852928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Update when KLA releases new product variants</a:t>
            </a:r>
          </a:p>
        </p:txBody>
      </p:sp>
      <p:sp>
        <p:nvSpPr>
          <p:cNvPr id="38" name="Oval 37"/>
          <p:cNvSpPr/>
          <p:nvPr/>
        </p:nvSpPr>
        <p:spPr>
          <a:xfrm>
            <a:off x="7095744" y="3364992"/>
            <a:ext cx="118872" cy="118872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8624" y="3328416"/>
            <a:ext cx="17190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Lexend Deca"/>
              </a:rPr>
              <a:t>Capture actual vs estimated time/cost per onboarding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6384" y="4224528"/>
            <a:ext cx="7754112" cy="502920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Lexend Deca"/>
              </a:rPr>
              <a:t>Ambition: every new KLA product type live in Salesforce RCA within one working day, with zero manual configuration and full CML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 Tech RCA onboarding complete.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86384" y="2743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Management overview  · 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54864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Tangible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" y="1371600"/>
            <a:ext cx="2468880" cy="178308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00B1"/>
                </a:solidFill>
                <a:latin typeface="Lexend Deca"/>
              </a:rPr>
              <a:t>~90%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00B1"/>
                </a:solidFill>
                <a:latin typeface="Lexend Deca"/>
              </a:rPr>
              <a:t>time saved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404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exend Deca"/>
              </a:rPr>
              <a:t>vs. manual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7523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Lexend Deca"/>
              </a:rPr>
              <a:t>1 session vs. 2–3 days of
consultant effort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02152" y="1371600"/>
            <a:ext cx="2468880" cy="178308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00B1"/>
                </a:solidFill>
                <a:latin typeface="Lexend Deca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00B1"/>
                </a:solidFill>
                <a:latin typeface="Lexend Deca"/>
              </a:rPr>
              <a:t>manual errors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404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exend Deca"/>
              </a:rPr>
              <a:t>in attribute definitions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7523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Lexend Deca"/>
              </a:rPr>
              <a:t>All 213 picklist values + 20 attributes
generated and validated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2468880" cy="17830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00B1"/>
                </a:solidFill>
                <a:latin typeface="Lexend Deca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00B1"/>
                </a:solidFill>
                <a:latin typeface="Lexend Deca"/>
              </a:rPr>
              <a:t>business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0487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exend Deca"/>
              </a:rPr>
              <a:t>captured from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7523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Lexend Deca"/>
              </a:rPr>
              <a:t>Column G validations converted to
CML — previously implicit, now enforced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3355848"/>
            <a:ext cx="2468880" cy="178308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4930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00B1"/>
                </a:solidFill>
                <a:latin typeface="Lexend Deca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00B1"/>
                </a:solidFill>
                <a:latin typeface="Lexend Deca"/>
              </a:rPr>
              <a:t>output fields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4389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exend Deca"/>
              </a:rPr>
              <a:t>auto-calculated on the quote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736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Lexend Deca"/>
              </a:rPr>
              <a:t>Av, Aa, SL, WL, T-class, CO2, pressure,
U-value — no manual lookup needed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02152" y="3355848"/>
            <a:ext cx="2468880" cy="178308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2152" y="34930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00B1"/>
                </a:solidFill>
                <a:latin typeface="Lexend Deca"/>
              </a:rPr>
              <a:t>~$20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2152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00B1"/>
                </a:solidFill>
                <a:latin typeface="Lexend Deca"/>
              </a:rPr>
              <a:t>AI credit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4389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exend Deca"/>
              </a:rPr>
              <a:t>for full product onboarding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93592" y="4736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Lexend Deca"/>
              </a:rPr>
              <a:t>Full ECO CO setup incl. CML model,
11 CSVs, error fixes, validations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3355848"/>
            <a:ext cx="2468880" cy="178308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493008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4C00B1"/>
                </a:solidFill>
                <a:latin typeface="Lexend Deca"/>
              </a:rPr>
              <a:t>1 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114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00B1"/>
                </a:solidFill>
                <a:latin typeface="Lexend Deca"/>
              </a:rPr>
              <a:t>per new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389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Lexend Deca"/>
              </a:rPr>
              <a:t>reusing the skill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736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555"/>
                </a:solidFill>
                <a:latin typeface="Lexend Deca"/>
              </a:rPr>
              <a:t>Each additional KLA product type
onboarded in one session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6384" y="5385816"/>
            <a:ext cx="7900416" cy="50292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" y="5449824"/>
            <a:ext cx="76260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From Excel configurator to live Salesforce RCA product  —  in a single working session, at a fraction of the cost of traditional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CB672AF67F44D950DBE54A5A52241" ma:contentTypeVersion="17" ma:contentTypeDescription="Create a new document." ma:contentTypeScope="" ma:versionID="1757fad67ccba543cf071e268e2ef806">
  <xsd:schema xmlns:xsd="http://www.w3.org/2001/XMLSchema" xmlns:xs="http://www.w3.org/2001/XMLSchema" xmlns:p="http://schemas.microsoft.com/office/2006/metadata/properties" xmlns:ns2="05e8a59d-3a81-4b74-849a-9f125a18a5d5" xmlns:ns3="52217aa2-56c0-4537-a16b-21b948960df3" targetNamespace="http://schemas.microsoft.com/office/2006/metadata/properties" ma:root="true" ma:fieldsID="3406f66a34ebb4d667a2549e1a052923" ns2:_="" ns3:_="">
    <xsd:import namespace="05e8a59d-3a81-4b74-849a-9f125a18a5d5"/>
    <xsd:import namespace="52217aa2-56c0-4537-a16b-21b948960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8a59d-3a81-4b74-849a-9f125a18a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7b3f3f-e5a1-4961-851f-eb29f9d0b8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217aa2-56c0-4537-a16b-21b948960df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117214b-65a8-4a4a-8087-04c3d591675e}" ma:internalName="TaxCatchAll" ma:showField="CatchAllData" ma:web="52217aa2-56c0-4537-a16b-21b948960d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e8a59d-3a81-4b74-849a-9f125a18a5d5">
      <Terms xmlns="http://schemas.microsoft.com/office/infopath/2007/PartnerControls"/>
    </lcf76f155ced4ddcb4097134ff3c332f>
    <Status xmlns="05e8a59d-3a81-4b74-849a-9f125a18a5d5" xsi:nil="true"/>
    <TaxCatchAll xmlns="52217aa2-56c0-4537-a16b-21b948960df3" xsi:nil="true"/>
  </documentManagement>
</p:properties>
</file>

<file path=customXml/itemProps1.xml><?xml version="1.0" encoding="utf-8"?>
<ds:datastoreItem xmlns:ds="http://schemas.openxmlformats.org/officeDocument/2006/customXml" ds:itemID="{EB544FC2-73BC-4581-A4F0-05C3BF79F792}"/>
</file>

<file path=customXml/itemProps2.xml><?xml version="1.0" encoding="utf-8"?>
<ds:datastoreItem xmlns:ds="http://schemas.openxmlformats.org/officeDocument/2006/customXml" ds:itemID="{F671F202-5EA0-4ACA-8C56-A132EA07BA31}"/>
</file>

<file path=customXml/itemProps3.xml><?xml version="1.0" encoding="utf-8"?>
<ds:datastoreItem xmlns:ds="http://schemas.openxmlformats.org/officeDocument/2006/customXml" ds:itemID="{495CB7E9-794D-4307-9E7B-B1FD8BD2BE29}"/>
</file>

<file path=docProps/app.xml><?xml version="1.0" encoding="utf-8"?>
<Properties xmlns="http://schemas.openxmlformats.org/officeDocument/2006/extended-properties" xmlns:vt="http://schemas.openxmlformats.org/officeDocument/2006/docPropsVTypes">
  <Application>python-pptx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Nextview Consulting</dc:creator>
  <cp:lastModifiedBy>Nextview Consulting</cp:lastModifiedBy>
  <cp:revision>1</cp:revision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0x0101000C5CB672AF67F44D950DBE54A5A52241</vt:lpwstr>
  </property>
</Properties>
</file>